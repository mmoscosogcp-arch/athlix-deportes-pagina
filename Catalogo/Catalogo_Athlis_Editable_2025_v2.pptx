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7562850" cy="10688638"/>
  <p:notesSz cx="10688638" cy="75628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6A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28"/>
    <p:restoredTop sz="94610"/>
  </p:normalViewPr>
  <p:slideViewPr>
    <p:cSldViewPr snapToGrid="0" snapToObjects="1">
      <p:cViewPr>
        <p:scale>
          <a:sx n="130" d="100"/>
          <a:sy n="130" d="100"/>
        </p:scale>
        <p:origin x="2384" y="-2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3256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Portada.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Contenido.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Nosotros.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Separador de sección 01.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ATH-AF-001.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ATH-AF-002.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Separador de sección 02.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ATH-VB-001.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ATH-VB-002.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Separador de sección 03.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ATH-BK-001.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ATH-BK-002.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Separador de sección 04.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ATH-AT-001.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Producto ATH-AT-002.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Tabla de precios.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Contacto.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Plantilla de nueva sección.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Paleta de color adaptada del archivo index.html subido por el usuario.
- Contenido base adaptado de Catalogo_Escolar_ATHLIS_STORE_2025.pdf.
- Tema de la diapositiva: Plantilla de nuevo producto.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1"/>
            <a:ext cx="7562088" cy="420599"/>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18745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63550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394960" y="822960"/>
            <a:ext cx="1325880" cy="1325880"/>
          </a:xfrm>
          <a:prstGeom prst="ellipse">
            <a:avLst/>
          </a:prstGeom>
          <a:solidFill>
            <a:srgbClr val="F26A21"/>
          </a:solidFill>
          <a:ln w="12700">
            <a:solidFill>
              <a:srgbClr val="F26A21"/>
            </a:solidFill>
            <a:prstDash val="solid"/>
          </a:ln>
        </p:spPr>
        <p:txBody>
          <a:bodyPr/>
          <a:lstStyle/>
          <a:p>
            <a:endParaRPr lang="es-CL" dirty="0"/>
          </a:p>
        </p:txBody>
      </p:sp>
      <p:sp>
        <p:nvSpPr>
          <p:cNvPr id="6" name="Shape 4"/>
          <p:cNvSpPr/>
          <p:nvPr/>
        </p:nvSpPr>
        <p:spPr>
          <a:xfrm>
            <a:off x="5943600" y="6903720"/>
            <a:ext cx="914400" cy="914400"/>
          </a:xfrm>
          <a:prstGeom prst="ellipse">
            <a:avLst/>
          </a:prstGeom>
          <a:solidFill>
            <a:srgbClr val="F26A21"/>
          </a:solidFill>
          <a:ln w="12700">
            <a:solidFill>
              <a:srgbClr val="F26A21"/>
            </a:solidFill>
            <a:prstDash val="solid"/>
          </a:ln>
        </p:spPr>
        <p:txBody>
          <a:bodyPr/>
          <a:lstStyle/>
          <a:p>
            <a:endParaRPr lang="es-CL"/>
          </a:p>
        </p:txBody>
      </p:sp>
      <p:sp>
        <p:nvSpPr>
          <p:cNvPr id="7" name="Shape 5"/>
          <p:cNvSpPr/>
          <p:nvPr/>
        </p:nvSpPr>
        <p:spPr>
          <a:xfrm>
            <a:off x="822960" y="8092440"/>
            <a:ext cx="658368" cy="658368"/>
          </a:xfrm>
          <a:prstGeom prst="ellipse">
            <a:avLst/>
          </a:prstGeom>
          <a:solidFill>
            <a:srgbClr val="F26A21"/>
          </a:solidFill>
          <a:ln w="12700">
            <a:solidFill>
              <a:srgbClr val="F26A21"/>
            </a:solidFill>
            <a:prstDash val="solid"/>
          </a:ln>
        </p:spPr>
        <p:txBody>
          <a:bodyPr/>
          <a:lstStyle/>
          <a:p>
            <a:endParaRPr lang="es-CL"/>
          </a:p>
        </p:txBody>
      </p:sp>
      <p:sp>
        <p:nvSpPr>
          <p:cNvPr id="8" name="Text 6"/>
          <p:cNvSpPr/>
          <p:nvPr/>
        </p:nvSpPr>
        <p:spPr>
          <a:xfrm>
            <a:off x="502919" y="502919"/>
            <a:ext cx="3278506" cy="530353"/>
          </a:xfrm>
          <a:prstGeom prst="rect">
            <a:avLst/>
          </a:prstGeom>
          <a:noFill/>
          <a:ln/>
        </p:spPr>
        <p:txBody>
          <a:bodyPr wrap="square" lIns="0" tIns="0" rIns="0" bIns="0" rtlCol="0" anchor="ctr"/>
          <a:lstStyle/>
          <a:p>
            <a:pPr marL="0" indent="0">
              <a:buNone/>
            </a:pPr>
            <a:r>
              <a:rPr lang="en-US" sz="2000" b="1" dirty="0">
                <a:solidFill>
                  <a:srgbClr val="FFFFFF"/>
                </a:solidFill>
                <a:latin typeface="Montserrat" pitchFamily="34" charset="0"/>
                <a:ea typeface="Montserrat" pitchFamily="34" charset="-122"/>
                <a:cs typeface="Montserrat" pitchFamily="34" charset="-120"/>
              </a:rPr>
              <a:t>ATHLIX </a:t>
            </a:r>
            <a:r>
              <a:rPr lang="en-US" sz="2000" b="1" dirty="0">
                <a:solidFill>
                  <a:srgbClr val="F26A21"/>
                </a:solidFill>
                <a:latin typeface="Montserrat" pitchFamily="34" charset="0"/>
                <a:ea typeface="Montserrat" pitchFamily="34" charset="-122"/>
                <a:cs typeface="Montserrat" pitchFamily="34" charset="-120"/>
              </a:rPr>
              <a:t>STORE</a:t>
            </a:r>
            <a:endParaRPr lang="en-US" sz="2000" dirty="0">
              <a:solidFill>
                <a:srgbClr val="F26A21"/>
              </a:solidFill>
            </a:endParaRPr>
          </a:p>
        </p:txBody>
      </p:sp>
      <p:sp>
        <p:nvSpPr>
          <p:cNvPr id="9" name="Text 7"/>
          <p:cNvSpPr/>
          <p:nvPr/>
        </p:nvSpPr>
        <p:spPr>
          <a:xfrm>
            <a:off x="502918" y="859509"/>
            <a:ext cx="3557637" cy="291938"/>
          </a:xfrm>
          <a:prstGeom prst="rect">
            <a:avLst/>
          </a:prstGeom>
          <a:noFill/>
          <a:ln/>
        </p:spPr>
        <p:txBody>
          <a:bodyPr wrap="square" lIns="0" tIns="0" rIns="0" bIns="0" rtlCol="0" anchor="ctr"/>
          <a:lstStyle/>
          <a:p>
            <a:pPr marL="0" indent="0">
              <a:buNone/>
            </a:pPr>
            <a:r>
              <a:rPr lang="en-US" sz="1200" dirty="0">
                <a:solidFill>
                  <a:srgbClr val="A8B6CC"/>
                </a:solidFill>
                <a:latin typeface="Poppins" pitchFamily="34" charset="0"/>
                <a:ea typeface="Poppins" pitchFamily="34" charset="-122"/>
                <a:cs typeface="Poppins" pitchFamily="34" charset="-120"/>
              </a:rPr>
              <a:t>SpA  Equipamiento Deportivo Profesional</a:t>
            </a:r>
            <a:endParaRPr lang="en-US" sz="1200" dirty="0"/>
          </a:p>
        </p:txBody>
      </p:sp>
      <p:sp>
        <p:nvSpPr>
          <p:cNvPr id="10" name="Text 8"/>
          <p:cNvSpPr/>
          <p:nvPr/>
        </p:nvSpPr>
        <p:spPr>
          <a:xfrm>
            <a:off x="502919" y="3246120"/>
            <a:ext cx="5634409" cy="310871"/>
          </a:xfrm>
          <a:prstGeom prst="rect">
            <a:avLst/>
          </a:prstGeom>
          <a:noFill/>
          <a:ln/>
        </p:spPr>
        <p:txBody>
          <a:bodyPr wrap="square" lIns="0" tIns="0" rIns="0" bIns="0" rtlCol="0" anchor="ctr"/>
          <a:lstStyle/>
          <a:p>
            <a:pPr marL="0" indent="0">
              <a:buNone/>
            </a:pPr>
            <a:r>
              <a:rPr lang="en-US" sz="7200" b="1" dirty="0">
                <a:solidFill>
                  <a:srgbClr val="FFFFFF"/>
                </a:solidFill>
                <a:latin typeface="Montserrat" pitchFamily="34" charset="0"/>
                <a:ea typeface="Montserrat" pitchFamily="34" charset="-122"/>
                <a:cs typeface="Montserrat" pitchFamily="34" charset="-120"/>
              </a:rPr>
              <a:t>CATÁLOGO</a:t>
            </a:r>
            <a:endParaRPr lang="en-US" sz="7200" dirty="0"/>
          </a:p>
        </p:txBody>
      </p:sp>
      <p:sp>
        <p:nvSpPr>
          <p:cNvPr id="11" name="Text 9"/>
          <p:cNvSpPr/>
          <p:nvPr/>
        </p:nvSpPr>
        <p:spPr>
          <a:xfrm>
            <a:off x="487260" y="3840480"/>
            <a:ext cx="4892040" cy="384048"/>
          </a:xfrm>
          <a:prstGeom prst="rect">
            <a:avLst/>
          </a:prstGeom>
          <a:noFill/>
          <a:ln/>
        </p:spPr>
        <p:txBody>
          <a:bodyPr wrap="square" lIns="0" tIns="0" rIns="0" bIns="0" rtlCol="0" anchor="ctr"/>
          <a:lstStyle/>
          <a:p>
            <a:pPr marL="0" indent="0">
              <a:buNone/>
            </a:pPr>
            <a:r>
              <a:rPr lang="en-US" sz="4400" b="1" dirty="0">
                <a:solidFill>
                  <a:srgbClr val="F26A21"/>
                </a:solidFill>
                <a:latin typeface="Montserrat" pitchFamily="34" charset="0"/>
                <a:ea typeface="Montserrat" pitchFamily="34" charset="-122"/>
                <a:cs typeface="Montserrat" pitchFamily="34" charset="-120"/>
              </a:rPr>
              <a:t>DE PRODUCTOS</a:t>
            </a:r>
            <a:endParaRPr lang="en-US" sz="4400" dirty="0"/>
          </a:p>
        </p:txBody>
      </p:sp>
      <p:sp>
        <p:nvSpPr>
          <p:cNvPr id="12" name="Text 10"/>
          <p:cNvSpPr/>
          <p:nvPr/>
        </p:nvSpPr>
        <p:spPr>
          <a:xfrm>
            <a:off x="502920" y="4389120"/>
            <a:ext cx="914400" cy="228600"/>
          </a:xfrm>
          <a:prstGeom prst="rect">
            <a:avLst/>
          </a:prstGeom>
          <a:noFill/>
          <a:ln/>
        </p:spPr>
        <p:txBody>
          <a:bodyPr wrap="square" lIns="0" tIns="0" rIns="0" bIns="0" rtlCol="0" anchor="ctr"/>
          <a:lstStyle/>
          <a:p>
            <a:pPr marL="0" indent="0">
              <a:buNone/>
            </a:pPr>
            <a:r>
              <a:rPr lang="en-US" sz="1200" b="1" dirty="0">
                <a:solidFill>
                  <a:srgbClr val="CBD5E1"/>
                </a:solidFill>
                <a:latin typeface="Poppins" pitchFamily="34" charset="0"/>
                <a:ea typeface="Poppins" pitchFamily="34" charset="-122"/>
                <a:cs typeface="Poppins" pitchFamily="34" charset="-120"/>
              </a:rPr>
              <a:t>2026</a:t>
            </a:r>
            <a:endParaRPr lang="en-US" sz="1200" dirty="0"/>
          </a:p>
        </p:txBody>
      </p:sp>
      <p:sp>
        <p:nvSpPr>
          <p:cNvPr id="13" name="Text 11"/>
          <p:cNvSpPr/>
          <p:nvPr/>
        </p:nvSpPr>
        <p:spPr>
          <a:xfrm>
            <a:off x="502920" y="6675120"/>
            <a:ext cx="1417320" cy="182880"/>
          </a:xfrm>
          <a:prstGeom prst="rect">
            <a:avLst/>
          </a:prstGeom>
          <a:solidFill>
            <a:srgbClr val="F26A21"/>
          </a:solidFill>
          <a:ln>
            <a:solidFill>
              <a:srgbClr val="F26A21"/>
            </a:solidFill>
          </a:ln>
        </p:spPr>
        <p:txBody>
          <a:bodyPr wrap="square" lIns="381" tIns="381" rIns="381" bIns="381" rtlCol="0" anchor="ctr"/>
          <a:lstStyle/>
          <a:p>
            <a:pPr marL="0" indent="0" algn="ctr">
              <a:buNone/>
            </a:pPr>
            <a:r>
              <a:rPr lang="en-US" sz="850" b="1" dirty="0">
                <a:solidFill>
                  <a:srgbClr val="0B1F3A"/>
                </a:solidFill>
                <a:latin typeface="Montserrat" pitchFamily="34" charset="0"/>
                <a:ea typeface="Montserrat" pitchFamily="34" charset="-122"/>
                <a:cs typeface="Montserrat" pitchFamily="34" charset="-120"/>
              </a:rPr>
              <a:t>FÚTBOL</a:t>
            </a:r>
            <a:endParaRPr lang="en-US" sz="850" dirty="0"/>
          </a:p>
        </p:txBody>
      </p:sp>
      <p:sp>
        <p:nvSpPr>
          <p:cNvPr id="14" name="Text 12"/>
          <p:cNvSpPr/>
          <p:nvPr/>
        </p:nvSpPr>
        <p:spPr>
          <a:xfrm>
            <a:off x="2075688" y="6675120"/>
            <a:ext cx="1417320" cy="182880"/>
          </a:xfrm>
          <a:prstGeom prst="rect">
            <a:avLst/>
          </a:prstGeom>
          <a:solidFill>
            <a:srgbClr val="F26A21"/>
          </a:solidFill>
          <a:ln>
            <a:solidFill>
              <a:srgbClr val="F26A21"/>
            </a:solidFill>
          </a:ln>
        </p:spPr>
        <p:txBody>
          <a:bodyPr wrap="square" lIns="381" tIns="381" rIns="381" bIns="381" rtlCol="0" anchor="ctr"/>
          <a:lstStyle/>
          <a:p>
            <a:pPr marL="0" indent="0" algn="ctr">
              <a:buNone/>
            </a:pPr>
            <a:r>
              <a:rPr lang="en-US" sz="850" b="1" dirty="0">
                <a:solidFill>
                  <a:srgbClr val="0B1F3A"/>
                </a:solidFill>
                <a:latin typeface="Montserrat" pitchFamily="34" charset="0"/>
                <a:ea typeface="Montserrat" pitchFamily="34" charset="-122"/>
                <a:cs typeface="Montserrat" pitchFamily="34" charset="-120"/>
              </a:rPr>
              <a:t>VOLEIBOL</a:t>
            </a:r>
            <a:endParaRPr lang="en-US" sz="850" dirty="0"/>
          </a:p>
        </p:txBody>
      </p:sp>
      <p:sp>
        <p:nvSpPr>
          <p:cNvPr id="15" name="Text 13"/>
          <p:cNvSpPr/>
          <p:nvPr/>
        </p:nvSpPr>
        <p:spPr>
          <a:xfrm>
            <a:off x="3648456" y="6675120"/>
            <a:ext cx="1417320" cy="182880"/>
          </a:xfrm>
          <a:prstGeom prst="rect">
            <a:avLst/>
          </a:prstGeom>
          <a:solidFill>
            <a:srgbClr val="F26A21"/>
          </a:solidFill>
          <a:ln>
            <a:solidFill>
              <a:srgbClr val="F26A21"/>
            </a:solidFill>
          </a:ln>
        </p:spPr>
        <p:txBody>
          <a:bodyPr wrap="square" lIns="381" tIns="381" rIns="381" bIns="381" rtlCol="0" anchor="ctr"/>
          <a:lstStyle/>
          <a:p>
            <a:pPr marL="0" indent="0" algn="ctr">
              <a:buNone/>
            </a:pPr>
            <a:r>
              <a:rPr lang="en-US" sz="850" b="1" dirty="0">
                <a:solidFill>
                  <a:srgbClr val="0B1F3A"/>
                </a:solidFill>
                <a:latin typeface="Montserrat" pitchFamily="34" charset="0"/>
                <a:ea typeface="Montserrat" pitchFamily="34" charset="-122"/>
                <a:cs typeface="Montserrat" pitchFamily="34" charset="-120"/>
              </a:rPr>
              <a:t>BÁSQUETBOL</a:t>
            </a:r>
            <a:endParaRPr lang="en-US" sz="850" dirty="0"/>
          </a:p>
        </p:txBody>
      </p:sp>
      <p:sp>
        <p:nvSpPr>
          <p:cNvPr id="16" name="Text 14"/>
          <p:cNvSpPr/>
          <p:nvPr/>
        </p:nvSpPr>
        <p:spPr>
          <a:xfrm>
            <a:off x="5221224" y="6675120"/>
            <a:ext cx="1417320" cy="182880"/>
          </a:xfrm>
          <a:prstGeom prst="rect">
            <a:avLst/>
          </a:prstGeom>
          <a:solidFill>
            <a:srgbClr val="F26A21"/>
          </a:solidFill>
          <a:ln>
            <a:solidFill>
              <a:srgbClr val="F26A21"/>
            </a:solidFill>
          </a:ln>
        </p:spPr>
        <p:txBody>
          <a:bodyPr wrap="square" lIns="381" tIns="381" rIns="381" bIns="381" rtlCol="0" anchor="ctr"/>
          <a:lstStyle/>
          <a:p>
            <a:pPr marL="0" indent="0" algn="ctr">
              <a:buNone/>
            </a:pPr>
            <a:r>
              <a:rPr lang="en-US" sz="850" b="1" dirty="0">
                <a:solidFill>
                  <a:srgbClr val="0B1F3A"/>
                </a:solidFill>
                <a:latin typeface="Montserrat" pitchFamily="34" charset="0"/>
                <a:ea typeface="Montserrat" pitchFamily="34" charset="-122"/>
                <a:cs typeface="Montserrat" pitchFamily="34" charset="-120"/>
              </a:rPr>
              <a:t>ATLETISMO</a:t>
            </a:r>
            <a:endParaRPr lang="en-US" sz="850" dirty="0"/>
          </a:p>
        </p:txBody>
      </p:sp>
      <p:sp>
        <p:nvSpPr>
          <p:cNvPr id="17" name="Text 15"/>
          <p:cNvSpPr/>
          <p:nvPr/>
        </p:nvSpPr>
        <p:spPr>
          <a:xfrm>
            <a:off x="502920" y="8979408"/>
            <a:ext cx="4297680" cy="201168"/>
          </a:xfrm>
          <a:prstGeom prst="rect">
            <a:avLst/>
          </a:prstGeom>
          <a:noFill/>
          <a:ln/>
        </p:spPr>
        <p:txBody>
          <a:bodyPr wrap="square" lIns="0" tIns="0" rIns="0" bIns="0" rtlCol="0" anchor="ctr"/>
          <a:lstStyle/>
          <a:p>
            <a:pPr marL="0" indent="0">
              <a:buNone/>
            </a:pPr>
            <a:r>
              <a:rPr lang="en-US" sz="900" dirty="0">
                <a:solidFill>
                  <a:srgbClr val="D6DFEB"/>
                </a:solidFill>
                <a:latin typeface="Poppins" pitchFamily="34" charset="0"/>
                <a:ea typeface="Poppins" pitchFamily="34" charset="-122"/>
                <a:cs typeface="Poppins" pitchFamily="34" charset="-120"/>
              </a:rPr>
              <a:t>Para colegios, liceos y establecimientos educacionales</a:t>
            </a:r>
            <a:endParaRPr lang="en-US" sz="900" dirty="0"/>
          </a:p>
        </p:txBody>
      </p:sp>
      <p:sp>
        <p:nvSpPr>
          <p:cNvPr id="18" name="Text 16"/>
          <p:cNvSpPr/>
          <p:nvPr/>
        </p:nvSpPr>
        <p:spPr>
          <a:xfrm>
            <a:off x="502920" y="9372600"/>
            <a:ext cx="4389120" cy="164592"/>
          </a:xfrm>
          <a:prstGeom prst="rect">
            <a:avLst/>
          </a:prstGeom>
          <a:noFill/>
          <a:ln/>
        </p:spPr>
        <p:txBody>
          <a:bodyPr wrap="square" lIns="0" tIns="0" rIns="0" bIns="0" rtlCol="0" anchor="ctr"/>
          <a:lstStyle/>
          <a:p>
            <a:pPr marL="0" indent="0">
              <a:buNone/>
            </a:pPr>
            <a:r>
              <a:rPr lang="en-US" sz="750" dirty="0">
                <a:solidFill>
                  <a:srgbClr val="94A3B8"/>
                </a:solidFill>
                <a:latin typeface="Poppins" pitchFamily="34" charset="0"/>
                <a:ea typeface="Poppins" pitchFamily="34" charset="-122"/>
                <a:cs typeface="Poppins" pitchFamily="34" charset="-120"/>
              </a:rPr>
              <a:t>+56 9 6432 9683 | </a:t>
            </a:r>
            <a:r>
              <a:rPr lang="en-US" sz="750" dirty="0" err="1">
                <a:solidFill>
                  <a:srgbClr val="94A3B8"/>
                </a:solidFill>
                <a:latin typeface="Poppins" pitchFamily="34" charset="0"/>
                <a:ea typeface="Poppins" pitchFamily="34" charset="-122"/>
                <a:cs typeface="Poppins" pitchFamily="34" charset="-120"/>
              </a:rPr>
              <a:t>athlixchile@gmail.com</a:t>
            </a:r>
            <a:r>
              <a:rPr lang="en-US" sz="750" dirty="0">
                <a:solidFill>
                  <a:srgbClr val="94A3B8"/>
                </a:solidFill>
                <a:latin typeface="Poppins" pitchFamily="34" charset="0"/>
                <a:ea typeface="Poppins" pitchFamily="34" charset="-122"/>
                <a:cs typeface="Poppins" pitchFamily="34" charset="-120"/>
              </a:rPr>
              <a:t> | </a:t>
            </a:r>
            <a:r>
              <a:rPr lang="en-US" sz="750" dirty="0" err="1">
                <a:solidFill>
                  <a:srgbClr val="94A3B8"/>
                </a:solidFill>
                <a:latin typeface="Poppins" pitchFamily="34" charset="0"/>
                <a:ea typeface="Poppins" pitchFamily="34" charset="-122"/>
                <a:cs typeface="Poppins" pitchFamily="34" charset="-120"/>
              </a:rPr>
              <a:t>www.athlixstore.cl</a:t>
            </a:r>
            <a:endParaRPr lang="en-US" sz="750" dirty="0"/>
          </a:p>
        </p:txBody>
      </p:sp>
      <p:sp>
        <p:nvSpPr>
          <p:cNvPr id="19" name="Shape 17"/>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20" name="Text 18"/>
          <p:cNvSpPr/>
          <p:nvPr/>
        </p:nvSpPr>
        <p:spPr>
          <a:xfrm>
            <a:off x="502920" y="10323576"/>
            <a:ext cx="4389120" cy="128016"/>
          </a:xfrm>
          <a:prstGeom prst="rect">
            <a:avLst/>
          </a:prstGeom>
          <a:noFill/>
          <a:ln/>
        </p:spPr>
        <p:txBody>
          <a:bodyPr wrap="square" lIns="0" tIns="0" rIns="0" bIns="0" rtlCol="0" anchor="ctr"/>
          <a:lstStyle/>
          <a:p>
            <a:pPr marL="0" indent="0">
              <a:buNone/>
            </a:pPr>
            <a:r>
              <a:rPr lang="en-US" sz="750" dirty="0">
                <a:solidFill>
                  <a:srgbClr val="CBD5E1"/>
                </a:solidFill>
                <a:latin typeface="Poppins" pitchFamily="34" charset="0"/>
                <a:ea typeface="Poppins" pitchFamily="34" charset="-122"/>
                <a:cs typeface="Poppins" pitchFamily="34" charset="-120"/>
              </a:rPr>
              <a:t>ATHLIX STORE SpA · </a:t>
            </a:r>
            <a:r>
              <a:rPr lang="en-US" sz="750" dirty="0" err="1">
                <a:solidFill>
                  <a:srgbClr val="CBD5E1"/>
                </a:solidFill>
                <a:latin typeface="Poppins" pitchFamily="34" charset="0"/>
                <a:ea typeface="Poppins" pitchFamily="34" charset="-122"/>
                <a:cs typeface="Poppins" pitchFamily="34" charset="-120"/>
              </a:rPr>
              <a:t>Catálogo</a:t>
            </a:r>
            <a:r>
              <a:rPr lang="en-US" sz="750" dirty="0">
                <a:solidFill>
                  <a:srgbClr val="CBD5E1"/>
                </a:solidFill>
                <a:latin typeface="Poppins" pitchFamily="34" charset="0"/>
                <a:ea typeface="Poppins" pitchFamily="34" charset="-122"/>
                <a:cs typeface="Poppins" pitchFamily="34" charset="-120"/>
              </a:rPr>
              <a:t> de </a:t>
            </a:r>
            <a:r>
              <a:rPr lang="en-US" sz="750" dirty="0" err="1">
                <a:solidFill>
                  <a:srgbClr val="CBD5E1"/>
                </a:solidFill>
                <a:latin typeface="Poppins" pitchFamily="34" charset="0"/>
                <a:ea typeface="Poppins" pitchFamily="34" charset="-122"/>
                <a:cs typeface="Poppins" pitchFamily="34" charset="-120"/>
              </a:rPr>
              <a:t>productos</a:t>
            </a:r>
            <a:r>
              <a:rPr lang="en-US" sz="750" dirty="0">
                <a:solidFill>
                  <a:srgbClr val="CBD5E1"/>
                </a:solidFill>
                <a:latin typeface="Poppins" pitchFamily="34" charset="0"/>
                <a:ea typeface="Poppins" pitchFamily="34" charset="-122"/>
                <a:cs typeface="Poppins" pitchFamily="34" charset="-120"/>
              </a:rPr>
              <a:t> 2026</a:t>
            </a:r>
            <a:endParaRPr lang="en-US" sz="750" dirty="0"/>
          </a:p>
        </p:txBody>
      </p:sp>
      <p:sp>
        <p:nvSpPr>
          <p:cNvPr id="21" name="Text 19"/>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Portada</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164592"/>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10469880"/>
            <a:ext cx="7562088" cy="219456"/>
          </a:xfrm>
          <a:prstGeom prst="rect">
            <a:avLst/>
          </a:prstGeom>
          <a:solidFill>
            <a:srgbClr val="F26A21"/>
          </a:solidFill>
          <a:ln w="12700">
            <a:solidFill>
              <a:srgbClr val="F26A21"/>
            </a:solidFill>
            <a:prstDash val="solid"/>
          </a:ln>
        </p:spPr>
        <p:txBody>
          <a:bodyPr/>
          <a:lstStyle/>
          <a:p>
            <a:endParaRPr lang="es-CL"/>
          </a:p>
        </p:txBody>
      </p:sp>
      <p:sp>
        <p:nvSpPr>
          <p:cNvPr id="4" name="Text 2"/>
          <p:cNvSpPr/>
          <p:nvPr/>
        </p:nvSpPr>
        <p:spPr>
          <a:xfrm>
            <a:off x="502920" y="548640"/>
            <a:ext cx="3108960" cy="365760"/>
          </a:xfrm>
          <a:prstGeom prst="rect">
            <a:avLst/>
          </a:prstGeom>
          <a:noFill/>
          <a:ln/>
        </p:spPr>
        <p:txBody>
          <a:bodyPr wrap="square" lIns="0" tIns="0" rIns="0" bIns="0" rtlCol="0" anchor="ctr"/>
          <a:lstStyle/>
          <a:p>
            <a:pPr marL="0" indent="0">
              <a:buNone/>
            </a:pPr>
            <a:r>
              <a:rPr lang="en-US" sz="2400" b="1" dirty="0">
                <a:solidFill>
                  <a:srgbClr val="FFFFFF"/>
                </a:solidFill>
                <a:latin typeface="Montserrat" pitchFamily="34" charset="0"/>
                <a:ea typeface="Montserrat" pitchFamily="34" charset="-122"/>
                <a:cs typeface="Montserrat" pitchFamily="34" charset="-120"/>
              </a:rPr>
              <a:t>Contenido</a:t>
            </a:r>
            <a:endParaRPr lang="en-US" sz="2400" dirty="0"/>
          </a:p>
        </p:txBody>
      </p:sp>
      <p:sp>
        <p:nvSpPr>
          <p:cNvPr id="5" name="Text 3"/>
          <p:cNvSpPr/>
          <p:nvPr/>
        </p:nvSpPr>
        <p:spPr>
          <a:xfrm>
            <a:off x="502920" y="914400"/>
            <a:ext cx="3474720" cy="164592"/>
          </a:xfrm>
          <a:prstGeom prst="rect">
            <a:avLst/>
          </a:prstGeom>
          <a:noFill/>
          <a:ln/>
        </p:spPr>
        <p:txBody>
          <a:bodyPr wrap="square" lIns="0" tIns="0" rIns="0" bIns="0" rtlCol="0" anchor="ctr"/>
          <a:lstStyle/>
          <a:p>
            <a:pPr marL="0" indent="0">
              <a:buNone/>
            </a:pPr>
            <a:r>
              <a:rPr lang="en-US" sz="850" dirty="0">
                <a:solidFill>
                  <a:srgbClr val="A8B6CC"/>
                </a:solidFill>
                <a:latin typeface="Poppins" pitchFamily="34" charset="0"/>
                <a:ea typeface="Poppins" pitchFamily="34" charset="-122"/>
                <a:cs typeface="Poppins" pitchFamily="34" charset="-120"/>
              </a:rPr>
              <a:t>Catálogo editable 2025 · ATHLIS STORE SpA</a:t>
            </a:r>
            <a:endParaRPr lang="en-US" sz="850" dirty="0"/>
          </a:p>
        </p:txBody>
      </p:sp>
      <p:sp>
        <p:nvSpPr>
          <p:cNvPr id="6" name="Shape 4"/>
          <p:cNvSpPr/>
          <p:nvPr/>
        </p:nvSpPr>
        <p:spPr>
          <a:xfrm>
            <a:off x="502920" y="141732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7" name="Text 5"/>
          <p:cNvSpPr/>
          <p:nvPr/>
        </p:nvSpPr>
        <p:spPr>
          <a:xfrm>
            <a:off x="612648" y="158191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01</a:t>
            </a:r>
            <a:endParaRPr lang="en-US" sz="1200" dirty="0"/>
          </a:p>
        </p:txBody>
      </p:sp>
      <p:sp>
        <p:nvSpPr>
          <p:cNvPr id="8" name="Text 6"/>
          <p:cNvSpPr/>
          <p:nvPr/>
        </p:nvSpPr>
        <p:spPr>
          <a:xfrm>
            <a:off x="1325880" y="153619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NOSOTROS</a:t>
            </a:r>
            <a:endParaRPr lang="en-US" sz="1050" dirty="0"/>
          </a:p>
        </p:txBody>
      </p:sp>
      <p:sp>
        <p:nvSpPr>
          <p:cNvPr id="9" name="Text 7"/>
          <p:cNvSpPr/>
          <p:nvPr/>
        </p:nvSpPr>
        <p:spPr>
          <a:xfrm>
            <a:off x="1325880" y="178308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Quiénes somos y por qué elegirnos</a:t>
            </a:r>
            <a:endParaRPr lang="en-US" sz="820" dirty="0"/>
          </a:p>
        </p:txBody>
      </p:sp>
      <p:sp>
        <p:nvSpPr>
          <p:cNvPr id="10" name="Text 8"/>
          <p:cNvSpPr/>
          <p:nvPr/>
        </p:nvSpPr>
        <p:spPr>
          <a:xfrm>
            <a:off x="5715000" y="167335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3</a:t>
            </a:r>
            <a:endParaRPr lang="en-US" sz="850" dirty="0"/>
          </a:p>
        </p:txBody>
      </p:sp>
      <p:sp>
        <p:nvSpPr>
          <p:cNvPr id="11" name="Shape 9"/>
          <p:cNvSpPr/>
          <p:nvPr/>
        </p:nvSpPr>
        <p:spPr>
          <a:xfrm>
            <a:off x="502920" y="228600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12" name="Text 10"/>
          <p:cNvSpPr/>
          <p:nvPr/>
        </p:nvSpPr>
        <p:spPr>
          <a:xfrm>
            <a:off x="612648" y="245059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02</a:t>
            </a:r>
            <a:endParaRPr lang="en-US" sz="1200" dirty="0"/>
          </a:p>
        </p:txBody>
      </p:sp>
      <p:sp>
        <p:nvSpPr>
          <p:cNvPr id="13" name="Text 11"/>
          <p:cNvSpPr/>
          <p:nvPr/>
        </p:nvSpPr>
        <p:spPr>
          <a:xfrm>
            <a:off x="1325880" y="240487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ARCOS DE FÚTBOL</a:t>
            </a:r>
            <a:endParaRPr lang="en-US" sz="1050" dirty="0"/>
          </a:p>
        </p:txBody>
      </p:sp>
      <p:sp>
        <p:nvSpPr>
          <p:cNvPr id="14" name="Text 12"/>
          <p:cNvSpPr/>
          <p:nvPr/>
        </p:nvSpPr>
        <p:spPr>
          <a:xfrm>
            <a:off x="1325880" y="265176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Arco oficial reglamentario y arco fútbol 7</a:t>
            </a:r>
            <a:endParaRPr lang="en-US" sz="820" dirty="0"/>
          </a:p>
        </p:txBody>
      </p:sp>
      <p:sp>
        <p:nvSpPr>
          <p:cNvPr id="15" name="Text 13"/>
          <p:cNvSpPr/>
          <p:nvPr/>
        </p:nvSpPr>
        <p:spPr>
          <a:xfrm>
            <a:off x="5715000" y="254203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4-5</a:t>
            </a:r>
            <a:endParaRPr lang="en-US" sz="850" dirty="0"/>
          </a:p>
        </p:txBody>
      </p:sp>
      <p:sp>
        <p:nvSpPr>
          <p:cNvPr id="16" name="Shape 14"/>
          <p:cNvSpPr/>
          <p:nvPr/>
        </p:nvSpPr>
        <p:spPr>
          <a:xfrm>
            <a:off x="502920" y="315468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17" name="Text 15"/>
          <p:cNvSpPr/>
          <p:nvPr/>
        </p:nvSpPr>
        <p:spPr>
          <a:xfrm>
            <a:off x="612648" y="331927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03</a:t>
            </a:r>
            <a:endParaRPr lang="en-US" sz="1200" dirty="0"/>
          </a:p>
        </p:txBody>
      </p:sp>
      <p:sp>
        <p:nvSpPr>
          <p:cNvPr id="18" name="Text 16"/>
          <p:cNvSpPr/>
          <p:nvPr/>
        </p:nvSpPr>
        <p:spPr>
          <a:xfrm>
            <a:off x="1325880" y="327355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REDES Y POSTES VOLEIBOL</a:t>
            </a:r>
            <a:endParaRPr lang="en-US" sz="1050" dirty="0"/>
          </a:p>
        </p:txBody>
      </p:sp>
      <p:sp>
        <p:nvSpPr>
          <p:cNvPr id="19" name="Text 17"/>
          <p:cNvSpPr/>
          <p:nvPr/>
        </p:nvSpPr>
        <p:spPr>
          <a:xfrm>
            <a:off x="1325880" y="352044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Sets profesionales indoor y outdoor</a:t>
            </a:r>
            <a:endParaRPr lang="en-US" sz="820" dirty="0"/>
          </a:p>
        </p:txBody>
      </p:sp>
      <p:sp>
        <p:nvSpPr>
          <p:cNvPr id="20" name="Text 18"/>
          <p:cNvSpPr/>
          <p:nvPr/>
        </p:nvSpPr>
        <p:spPr>
          <a:xfrm>
            <a:off x="5715000" y="341071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6-7</a:t>
            </a:r>
            <a:endParaRPr lang="en-US" sz="850" dirty="0"/>
          </a:p>
        </p:txBody>
      </p:sp>
      <p:sp>
        <p:nvSpPr>
          <p:cNvPr id="21" name="Shape 19"/>
          <p:cNvSpPr/>
          <p:nvPr/>
        </p:nvSpPr>
        <p:spPr>
          <a:xfrm>
            <a:off x="502920" y="402336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22" name="Text 20"/>
          <p:cNvSpPr/>
          <p:nvPr/>
        </p:nvSpPr>
        <p:spPr>
          <a:xfrm>
            <a:off x="612648" y="418795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04</a:t>
            </a:r>
            <a:endParaRPr lang="en-US" sz="1200" dirty="0"/>
          </a:p>
        </p:txBody>
      </p:sp>
      <p:sp>
        <p:nvSpPr>
          <p:cNvPr id="23" name="Text 21"/>
          <p:cNvSpPr/>
          <p:nvPr/>
        </p:nvSpPr>
        <p:spPr>
          <a:xfrm>
            <a:off x="1325880" y="414223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TORRES DE BÁSQUETBOL</a:t>
            </a:r>
            <a:endParaRPr lang="en-US" sz="1050" dirty="0"/>
          </a:p>
        </p:txBody>
      </p:sp>
      <p:sp>
        <p:nvSpPr>
          <p:cNvPr id="24" name="Text 22"/>
          <p:cNvSpPr/>
          <p:nvPr/>
        </p:nvSpPr>
        <p:spPr>
          <a:xfrm>
            <a:off x="1325880" y="438912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Fija empotramiento y móvil con contrapeso</a:t>
            </a:r>
            <a:endParaRPr lang="en-US" sz="820" dirty="0"/>
          </a:p>
        </p:txBody>
      </p:sp>
      <p:sp>
        <p:nvSpPr>
          <p:cNvPr id="25" name="Text 23"/>
          <p:cNvSpPr/>
          <p:nvPr/>
        </p:nvSpPr>
        <p:spPr>
          <a:xfrm>
            <a:off x="5715000" y="427939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8-9</a:t>
            </a:r>
            <a:endParaRPr lang="en-US" sz="850" dirty="0"/>
          </a:p>
        </p:txBody>
      </p:sp>
      <p:sp>
        <p:nvSpPr>
          <p:cNvPr id="26" name="Shape 24"/>
          <p:cNvSpPr/>
          <p:nvPr/>
        </p:nvSpPr>
        <p:spPr>
          <a:xfrm>
            <a:off x="502920" y="489204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27" name="Text 25"/>
          <p:cNvSpPr/>
          <p:nvPr/>
        </p:nvSpPr>
        <p:spPr>
          <a:xfrm>
            <a:off x="612648" y="505663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05</a:t>
            </a:r>
            <a:endParaRPr lang="en-US" sz="1200" dirty="0"/>
          </a:p>
        </p:txBody>
      </p:sp>
      <p:sp>
        <p:nvSpPr>
          <p:cNvPr id="28" name="Text 26"/>
          <p:cNvSpPr/>
          <p:nvPr/>
        </p:nvSpPr>
        <p:spPr>
          <a:xfrm>
            <a:off x="1325880" y="501091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VALLAS DE ATLETISMO</a:t>
            </a:r>
            <a:endParaRPr lang="en-US" sz="1050" dirty="0"/>
          </a:p>
        </p:txBody>
      </p:sp>
      <p:sp>
        <p:nvSpPr>
          <p:cNvPr id="29" name="Text 27"/>
          <p:cNvSpPr/>
          <p:nvPr/>
        </p:nvSpPr>
        <p:spPr>
          <a:xfrm>
            <a:off x="1325880" y="525780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Reglamentarias e infantiles de iniciación</a:t>
            </a:r>
            <a:endParaRPr lang="en-US" sz="820" dirty="0"/>
          </a:p>
        </p:txBody>
      </p:sp>
      <p:sp>
        <p:nvSpPr>
          <p:cNvPr id="30" name="Text 28"/>
          <p:cNvSpPr/>
          <p:nvPr/>
        </p:nvSpPr>
        <p:spPr>
          <a:xfrm>
            <a:off x="5715000" y="514807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10-11</a:t>
            </a:r>
            <a:endParaRPr lang="en-US" sz="850" dirty="0"/>
          </a:p>
        </p:txBody>
      </p:sp>
      <p:sp>
        <p:nvSpPr>
          <p:cNvPr id="31" name="Shape 29"/>
          <p:cNvSpPr/>
          <p:nvPr/>
        </p:nvSpPr>
        <p:spPr>
          <a:xfrm>
            <a:off x="502920" y="576072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32" name="Text 30"/>
          <p:cNvSpPr/>
          <p:nvPr/>
        </p:nvSpPr>
        <p:spPr>
          <a:xfrm>
            <a:off x="612648" y="592531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06</a:t>
            </a:r>
            <a:endParaRPr lang="en-US" sz="1200" dirty="0"/>
          </a:p>
        </p:txBody>
      </p:sp>
      <p:sp>
        <p:nvSpPr>
          <p:cNvPr id="33" name="Text 31"/>
          <p:cNvSpPr/>
          <p:nvPr/>
        </p:nvSpPr>
        <p:spPr>
          <a:xfrm>
            <a:off x="1325880" y="587959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TABLA DE PRECIOS</a:t>
            </a:r>
            <a:endParaRPr lang="en-US" sz="1050" dirty="0"/>
          </a:p>
        </p:txBody>
      </p:sp>
      <p:sp>
        <p:nvSpPr>
          <p:cNvPr id="34" name="Text 32"/>
          <p:cNvSpPr/>
          <p:nvPr/>
        </p:nvSpPr>
        <p:spPr>
          <a:xfrm>
            <a:off x="1325880" y="612648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Precios referenciales y descuentos por volumen</a:t>
            </a:r>
            <a:endParaRPr lang="en-US" sz="820" dirty="0"/>
          </a:p>
        </p:txBody>
      </p:sp>
      <p:sp>
        <p:nvSpPr>
          <p:cNvPr id="35" name="Text 33"/>
          <p:cNvSpPr/>
          <p:nvPr/>
        </p:nvSpPr>
        <p:spPr>
          <a:xfrm>
            <a:off x="5715000" y="601675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12</a:t>
            </a:r>
            <a:endParaRPr lang="en-US" sz="850" dirty="0"/>
          </a:p>
        </p:txBody>
      </p:sp>
      <p:sp>
        <p:nvSpPr>
          <p:cNvPr id="36" name="Shape 34"/>
          <p:cNvSpPr/>
          <p:nvPr/>
        </p:nvSpPr>
        <p:spPr>
          <a:xfrm>
            <a:off x="502920" y="662940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37" name="Text 35"/>
          <p:cNvSpPr/>
          <p:nvPr/>
        </p:nvSpPr>
        <p:spPr>
          <a:xfrm>
            <a:off x="612648" y="679399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07</a:t>
            </a:r>
            <a:endParaRPr lang="en-US" sz="1200" dirty="0"/>
          </a:p>
        </p:txBody>
      </p:sp>
      <p:sp>
        <p:nvSpPr>
          <p:cNvPr id="38" name="Text 36"/>
          <p:cNvSpPr/>
          <p:nvPr/>
        </p:nvSpPr>
        <p:spPr>
          <a:xfrm>
            <a:off x="1325880" y="674827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CONTACTO</a:t>
            </a:r>
            <a:endParaRPr lang="en-US" sz="1050" dirty="0"/>
          </a:p>
        </p:txBody>
      </p:sp>
      <p:sp>
        <p:nvSpPr>
          <p:cNvPr id="39" name="Text 37"/>
          <p:cNvSpPr/>
          <p:nvPr/>
        </p:nvSpPr>
        <p:spPr>
          <a:xfrm>
            <a:off x="1325880" y="699516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Cómo cotizar y datos de la empresa</a:t>
            </a:r>
            <a:endParaRPr lang="en-US" sz="820" dirty="0"/>
          </a:p>
        </p:txBody>
      </p:sp>
      <p:sp>
        <p:nvSpPr>
          <p:cNvPr id="40" name="Text 38"/>
          <p:cNvSpPr/>
          <p:nvPr/>
        </p:nvSpPr>
        <p:spPr>
          <a:xfrm>
            <a:off x="5715000" y="688543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Pag. 13</a:t>
            </a:r>
            <a:endParaRPr lang="en-US" sz="850" dirty="0"/>
          </a:p>
        </p:txBody>
      </p:sp>
      <p:sp>
        <p:nvSpPr>
          <p:cNvPr id="41" name="Shape 39"/>
          <p:cNvSpPr/>
          <p:nvPr/>
        </p:nvSpPr>
        <p:spPr>
          <a:xfrm>
            <a:off x="502920" y="7498080"/>
            <a:ext cx="6556248" cy="749808"/>
          </a:xfrm>
          <a:prstGeom prst="roundRect">
            <a:avLst>
              <a:gd name="adj" fmla="val 9756"/>
            </a:avLst>
          </a:prstGeom>
          <a:solidFill>
            <a:srgbClr val="111B34"/>
          </a:solidFill>
          <a:ln w="12700">
            <a:solidFill>
              <a:srgbClr val="F26A21"/>
            </a:solidFill>
            <a:prstDash val="solid"/>
          </a:ln>
        </p:spPr>
        <p:txBody>
          <a:bodyPr/>
          <a:lstStyle/>
          <a:p>
            <a:endParaRPr lang="es-CL"/>
          </a:p>
        </p:txBody>
      </p:sp>
      <p:sp>
        <p:nvSpPr>
          <p:cNvPr id="42" name="Text 40"/>
          <p:cNvSpPr/>
          <p:nvPr/>
        </p:nvSpPr>
        <p:spPr>
          <a:xfrm>
            <a:off x="612648" y="7662672"/>
            <a:ext cx="530352" cy="237744"/>
          </a:xfrm>
          <a:prstGeom prst="rect">
            <a:avLst/>
          </a:prstGeom>
          <a:solidFill>
            <a:srgbClr val="F26A21"/>
          </a:solidFill>
          <a:ln/>
        </p:spPr>
        <p:txBody>
          <a:bodyPr wrap="square" lIns="254" tIns="254" rIns="254" bIns="254" rtlCol="0" anchor="ctr"/>
          <a:lstStyle/>
          <a:p>
            <a:pPr marL="0" indent="0" algn="ctr">
              <a:buNone/>
            </a:pPr>
            <a:r>
              <a:rPr lang="en-US" sz="1200" b="1" dirty="0">
                <a:solidFill>
                  <a:srgbClr val="0B1F3A"/>
                </a:solidFill>
                <a:latin typeface="Montserrat" pitchFamily="34" charset="0"/>
                <a:ea typeface="Montserrat" pitchFamily="34" charset="-122"/>
                <a:cs typeface="Montserrat" pitchFamily="34" charset="-120"/>
              </a:rPr>
              <a:t>08</a:t>
            </a:r>
            <a:endParaRPr lang="en-US" sz="1200" dirty="0"/>
          </a:p>
        </p:txBody>
      </p:sp>
      <p:sp>
        <p:nvSpPr>
          <p:cNvPr id="43" name="Text 41"/>
          <p:cNvSpPr/>
          <p:nvPr/>
        </p:nvSpPr>
        <p:spPr>
          <a:xfrm>
            <a:off x="1325880" y="7616952"/>
            <a:ext cx="4389120" cy="164592"/>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PLANTILLAS EDITABLES</a:t>
            </a:r>
            <a:endParaRPr lang="en-US" sz="1050" dirty="0"/>
          </a:p>
        </p:txBody>
      </p:sp>
      <p:sp>
        <p:nvSpPr>
          <p:cNvPr id="44" name="Text 42"/>
          <p:cNvSpPr/>
          <p:nvPr/>
        </p:nvSpPr>
        <p:spPr>
          <a:xfrm>
            <a:off x="1325880" y="7863840"/>
            <a:ext cx="4389120" cy="164592"/>
          </a:xfrm>
          <a:prstGeom prst="rect">
            <a:avLst/>
          </a:prstGeom>
          <a:noFill/>
          <a:ln/>
        </p:spPr>
        <p:txBody>
          <a:bodyPr wrap="square" lIns="0" tIns="0" rIns="0" bIns="0" rtlCol="0" anchor="ctr"/>
          <a:lstStyle/>
          <a:p>
            <a:pPr marL="0" indent="0">
              <a:buNone/>
            </a:pPr>
            <a:r>
              <a:rPr lang="en-US" sz="820" dirty="0">
                <a:solidFill>
                  <a:srgbClr val="C6D1E1"/>
                </a:solidFill>
                <a:latin typeface="Poppins" pitchFamily="34" charset="0"/>
                <a:ea typeface="Poppins" pitchFamily="34" charset="-122"/>
                <a:cs typeface="Poppins" pitchFamily="34" charset="-120"/>
              </a:rPr>
              <a:t>Duplica estas páginas para agregar productos o secciones</a:t>
            </a:r>
            <a:endParaRPr lang="en-US" sz="820" dirty="0"/>
          </a:p>
        </p:txBody>
      </p:sp>
      <p:sp>
        <p:nvSpPr>
          <p:cNvPr id="45" name="Text 43"/>
          <p:cNvSpPr/>
          <p:nvPr/>
        </p:nvSpPr>
        <p:spPr>
          <a:xfrm>
            <a:off x="5715000" y="7754112"/>
            <a:ext cx="1188720" cy="164592"/>
          </a:xfrm>
          <a:prstGeom prst="rect">
            <a:avLst/>
          </a:prstGeom>
          <a:noFill/>
          <a:ln/>
        </p:spPr>
        <p:txBody>
          <a:bodyPr wrap="square" lIns="0" tIns="0" rIns="0" bIns="0" rtlCol="0" anchor="ctr"/>
          <a:lstStyle/>
          <a:p>
            <a:pPr marL="0" indent="0" algn="r">
              <a:buNone/>
            </a:pPr>
            <a:r>
              <a:rPr lang="en-US" sz="850" b="1" dirty="0">
                <a:solidFill>
                  <a:srgbClr val="F26A21"/>
                </a:solidFill>
                <a:latin typeface="Poppins" pitchFamily="34" charset="0"/>
                <a:ea typeface="Poppins" pitchFamily="34" charset="-122"/>
                <a:cs typeface="Poppins" pitchFamily="34" charset="-120"/>
              </a:rPr>
              <a:t>Final</a:t>
            </a:r>
            <a:endParaRPr lang="en-US" sz="850" dirty="0"/>
          </a:p>
        </p:txBody>
      </p:sp>
      <p:sp>
        <p:nvSpPr>
          <p:cNvPr id="46" name="Text 44"/>
          <p:cNvSpPr/>
          <p:nvPr/>
        </p:nvSpPr>
        <p:spPr>
          <a:xfrm>
            <a:off x="502920" y="9939528"/>
            <a:ext cx="3931920" cy="146304"/>
          </a:xfrm>
          <a:prstGeom prst="rect">
            <a:avLst/>
          </a:prstGeom>
          <a:noFill/>
          <a:ln/>
        </p:spPr>
        <p:txBody>
          <a:bodyPr wrap="square" lIns="0" tIns="0" rIns="0" bIns="0" rtlCol="0" anchor="ctr"/>
          <a:lstStyle/>
          <a:p>
            <a:pPr marL="0" indent="0">
              <a:buNone/>
            </a:pPr>
            <a:r>
              <a:rPr lang="en-US" sz="750" dirty="0">
                <a:solidFill>
                  <a:srgbClr val="A8B6CC"/>
                </a:solidFill>
                <a:latin typeface="Poppins" pitchFamily="34" charset="0"/>
                <a:ea typeface="Poppins" pitchFamily="34" charset="-122"/>
                <a:cs typeface="Poppins" pitchFamily="34" charset="-120"/>
              </a:rPr>
              <a:t>Precios referenciales sujetos a cambio sin previo aviso.</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77240"/>
            <a:ext cx="1463040" cy="164592"/>
          </a:xfrm>
          <a:prstGeom prst="rect">
            <a:avLst/>
          </a:prstGeom>
          <a:noFill/>
          <a:ln/>
        </p:spPr>
        <p:txBody>
          <a:bodyPr wrap="square" lIns="0" tIns="0" rIns="0" bIns="0" rtlCol="0" anchor="ctr"/>
          <a:lstStyle/>
          <a:p>
            <a:pPr marL="0" indent="0">
              <a:buNone/>
            </a:pPr>
            <a:r>
              <a:rPr lang="en-US" sz="950" b="1" dirty="0">
                <a:solidFill>
                  <a:srgbClr val="F26A21"/>
                </a:solidFill>
                <a:latin typeface="Montserrat" pitchFamily="34" charset="0"/>
                <a:ea typeface="Montserrat" pitchFamily="34" charset="-122"/>
                <a:cs typeface="Montserrat" pitchFamily="34" charset="-120"/>
              </a:rPr>
              <a:t>NOSOTROS</a:t>
            </a:r>
            <a:endParaRPr lang="en-US" sz="950" dirty="0"/>
          </a:p>
        </p:txBody>
      </p:sp>
      <p:sp>
        <p:nvSpPr>
          <p:cNvPr id="8" name="Text 6"/>
          <p:cNvSpPr/>
          <p:nvPr/>
        </p:nvSpPr>
        <p:spPr>
          <a:xfrm>
            <a:off x="502920" y="895817"/>
            <a:ext cx="6309360" cy="1019556"/>
          </a:xfrm>
          <a:prstGeom prst="rect">
            <a:avLst/>
          </a:prstGeom>
          <a:noFill/>
          <a:ln/>
        </p:spPr>
        <p:txBody>
          <a:bodyPr wrap="square" lIns="0" tIns="0" rIns="0" bIns="0" rtlCol="0" anchor="ctr"/>
          <a:lstStyle/>
          <a:p>
            <a:r>
              <a:rPr lang="es-CL" sz="1900" b="1" dirty="0">
                <a:solidFill>
                  <a:srgbClr val="0B1F3A"/>
                </a:solidFill>
                <a:latin typeface="Montserrat" pitchFamily="34" charset="0"/>
              </a:rPr>
              <a:t>Equipamiento deportivo para municipalidades, colegios, gimnasios, centros deportivos y comercios especializados</a:t>
            </a:r>
            <a:endParaRPr lang="en-US" sz="1900" b="1" dirty="0">
              <a:solidFill>
                <a:srgbClr val="0B1F3A"/>
              </a:solidFill>
              <a:latin typeface="Montserrat" pitchFamily="34" charset="0"/>
            </a:endParaRPr>
          </a:p>
        </p:txBody>
      </p:sp>
      <p:sp>
        <p:nvSpPr>
          <p:cNvPr id="9" name="Text 7"/>
          <p:cNvSpPr/>
          <p:nvPr/>
        </p:nvSpPr>
        <p:spPr>
          <a:xfrm>
            <a:off x="502920" y="1965960"/>
            <a:ext cx="1828800" cy="182880"/>
          </a:xfrm>
          <a:prstGeom prst="rect">
            <a:avLst/>
          </a:prstGeom>
          <a:noFill/>
          <a:ln/>
        </p:spPr>
        <p:txBody>
          <a:bodyPr wrap="square" lIns="0" tIns="0" rIns="0" bIns="0" rtlCol="0" anchor="ctr"/>
          <a:lstStyle/>
          <a:p>
            <a:pPr marL="0" indent="0">
              <a:buNone/>
            </a:pPr>
            <a:r>
              <a:rPr lang="en-US" sz="1250" b="1" dirty="0">
                <a:solidFill>
                  <a:srgbClr val="1A1A1A"/>
                </a:solidFill>
                <a:latin typeface="Montserrat" pitchFamily="34" charset="0"/>
                <a:ea typeface="Montserrat" pitchFamily="34" charset="-122"/>
                <a:cs typeface="Montserrat" pitchFamily="34" charset="-120"/>
              </a:rPr>
              <a:t>Quiénes somos</a:t>
            </a:r>
            <a:endParaRPr lang="en-US" sz="1250" dirty="0"/>
          </a:p>
        </p:txBody>
      </p:sp>
      <p:sp>
        <p:nvSpPr>
          <p:cNvPr id="10" name="Text 8"/>
          <p:cNvSpPr/>
          <p:nvPr/>
        </p:nvSpPr>
        <p:spPr>
          <a:xfrm>
            <a:off x="502920" y="2313432"/>
            <a:ext cx="6556248" cy="795528"/>
          </a:xfrm>
          <a:prstGeom prst="rect">
            <a:avLst/>
          </a:prstGeom>
          <a:noFill/>
          <a:ln/>
        </p:spPr>
        <p:txBody>
          <a:bodyPr wrap="square" lIns="0" tIns="0" rIns="0" bIns="0" rtlCol="0" anchor="t">
            <a:normAutofit/>
          </a:bodyPr>
          <a:lstStyle/>
          <a:p>
            <a:pPr marL="0" indent="0">
              <a:buNone/>
            </a:pPr>
            <a:r>
              <a:rPr lang="en-US" sz="980" dirty="0">
                <a:solidFill>
                  <a:srgbClr val="6B6560"/>
                </a:solidFill>
                <a:latin typeface="Poppins" pitchFamily="34" charset="0"/>
                <a:ea typeface="Poppins" pitchFamily="34" charset="-122"/>
                <a:cs typeface="Poppins" pitchFamily="34" charset="-120"/>
              </a:rPr>
              <a:t>ATHLIX STORE SpA es una empresa especializada en equipamiento deportivo de alta calidad para establecimientos educacionales, municipios, clubes deportivos y organismos públicos. Nuestro compromiso es ofrecer productos certificados, con asesoría técnica especializada y servicio de post-venta que garantiza la satisfacción de cada cliente a lo largo de todo Chile.</a:t>
            </a:r>
            <a:endParaRPr lang="en-US" sz="980" dirty="0"/>
          </a:p>
        </p:txBody>
      </p:sp>
      <p:sp>
        <p:nvSpPr>
          <p:cNvPr id="11" name="Shape 9"/>
          <p:cNvSpPr/>
          <p:nvPr/>
        </p:nvSpPr>
        <p:spPr>
          <a:xfrm>
            <a:off x="502920" y="3520440"/>
            <a:ext cx="2834640" cy="1600200"/>
          </a:xfrm>
          <a:prstGeom prst="roundRect">
            <a:avLst>
              <a:gd name="adj" fmla="val 3429"/>
            </a:avLst>
          </a:prstGeom>
          <a:solidFill>
            <a:srgbClr val="FFFFFF"/>
          </a:solidFill>
          <a:ln w="12700">
            <a:solidFill>
              <a:srgbClr val="E5E0D8"/>
            </a:solidFill>
            <a:prstDash val="solid"/>
          </a:ln>
          <a:effectLst>
            <a:outerShdw blurRad="12700" dist="6350" dir="2700000" algn="bl" rotWithShape="0">
              <a:srgbClr val="000000">
                <a:alpha val="12000"/>
              </a:srgbClr>
            </a:outerShdw>
          </a:effectLst>
        </p:spPr>
        <p:txBody>
          <a:bodyPr/>
          <a:lstStyle/>
          <a:p>
            <a:endParaRPr lang="es-CL"/>
          </a:p>
        </p:txBody>
      </p:sp>
      <p:sp>
        <p:nvSpPr>
          <p:cNvPr id="12" name="Shape 10"/>
          <p:cNvSpPr/>
          <p:nvPr/>
        </p:nvSpPr>
        <p:spPr>
          <a:xfrm>
            <a:off x="502920" y="3520440"/>
            <a:ext cx="2834640" cy="73152"/>
          </a:xfrm>
          <a:prstGeom prst="rect">
            <a:avLst/>
          </a:prstGeom>
          <a:solidFill>
            <a:srgbClr val="F26A21"/>
          </a:solidFill>
          <a:ln w="12700">
            <a:solidFill>
              <a:srgbClr val="F26A21"/>
            </a:solidFill>
            <a:prstDash val="solid"/>
          </a:ln>
        </p:spPr>
        <p:txBody>
          <a:bodyPr/>
          <a:lstStyle/>
          <a:p>
            <a:endParaRPr lang="es-CL"/>
          </a:p>
        </p:txBody>
      </p:sp>
      <p:sp>
        <p:nvSpPr>
          <p:cNvPr id="13" name="Text 11"/>
          <p:cNvSpPr/>
          <p:nvPr/>
        </p:nvSpPr>
        <p:spPr>
          <a:xfrm>
            <a:off x="667512" y="3721608"/>
            <a:ext cx="2514600" cy="219456"/>
          </a:xfrm>
          <a:prstGeom prst="rect">
            <a:avLst/>
          </a:prstGeom>
          <a:noFill/>
          <a:ln/>
        </p:spPr>
        <p:txBody>
          <a:bodyPr wrap="square" lIns="0" tIns="0" rIns="0" bIns="0" rtlCol="0" anchor="ctr"/>
          <a:lstStyle/>
          <a:p>
            <a:pPr marL="0" indent="0">
              <a:buNone/>
            </a:pPr>
            <a:r>
              <a:rPr lang="en-US" sz="1100" b="1" dirty="0">
                <a:solidFill>
                  <a:srgbClr val="0B1F3A"/>
                </a:solidFill>
                <a:latin typeface="Montserrat" pitchFamily="34" charset="0"/>
                <a:ea typeface="Montserrat" pitchFamily="34" charset="-122"/>
                <a:cs typeface="Montserrat" pitchFamily="34" charset="-120"/>
              </a:rPr>
              <a:t>Calidad certificada</a:t>
            </a:r>
            <a:endParaRPr lang="en-US" sz="1100" dirty="0"/>
          </a:p>
        </p:txBody>
      </p:sp>
      <p:sp>
        <p:nvSpPr>
          <p:cNvPr id="14" name="Text 12"/>
          <p:cNvSpPr/>
          <p:nvPr/>
        </p:nvSpPr>
        <p:spPr>
          <a:xfrm>
            <a:off x="667512" y="4050792"/>
            <a:ext cx="2514600" cy="777240"/>
          </a:xfrm>
          <a:prstGeom prst="rect">
            <a:avLst/>
          </a:prstGeom>
          <a:noFill/>
          <a:ln/>
        </p:spPr>
        <p:txBody>
          <a:bodyPr wrap="square" lIns="0" tIns="0" rIns="0" bIns="0" rtlCol="0" anchor="ctr">
            <a:normAutofit/>
          </a:bodyPr>
          <a:lstStyle/>
          <a:p>
            <a:pPr marL="0" indent="0">
              <a:buNone/>
            </a:pPr>
            <a:r>
              <a:rPr lang="en-US" sz="870" dirty="0">
                <a:solidFill>
                  <a:srgbClr val="6B6560"/>
                </a:solidFill>
                <a:latin typeface="Poppins" pitchFamily="34" charset="0"/>
                <a:ea typeface="Poppins" pitchFamily="34" charset="-122"/>
                <a:cs typeface="Poppins" pitchFamily="34" charset="-120"/>
              </a:rPr>
              <a:t>Todos nuestros productos cumplen normativas internacionales FIFA, FIVB y World Athletics.</a:t>
            </a:r>
            <a:endParaRPr lang="en-US" sz="870" dirty="0"/>
          </a:p>
        </p:txBody>
      </p:sp>
      <p:sp>
        <p:nvSpPr>
          <p:cNvPr id="15" name="Shape 13"/>
          <p:cNvSpPr/>
          <p:nvPr/>
        </p:nvSpPr>
        <p:spPr>
          <a:xfrm>
            <a:off x="3703320" y="3520440"/>
            <a:ext cx="2834640" cy="1600200"/>
          </a:xfrm>
          <a:prstGeom prst="roundRect">
            <a:avLst>
              <a:gd name="adj" fmla="val 3429"/>
            </a:avLst>
          </a:prstGeom>
          <a:solidFill>
            <a:srgbClr val="FFFFFF"/>
          </a:solidFill>
          <a:ln w="12700">
            <a:solidFill>
              <a:srgbClr val="E5E0D8"/>
            </a:solidFill>
            <a:prstDash val="solid"/>
          </a:ln>
          <a:effectLst>
            <a:outerShdw blurRad="12700" dist="6350" dir="2700000" algn="bl" rotWithShape="0">
              <a:srgbClr val="000000">
                <a:alpha val="12000"/>
              </a:srgbClr>
            </a:outerShdw>
          </a:effectLst>
        </p:spPr>
        <p:txBody>
          <a:bodyPr/>
          <a:lstStyle/>
          <a:p>
            <a:endParaRPr lang="es-CL"/>
          </a:p>
        </p:txBody>
      </p:sp>
      <p:sp>
        <p:nvSpPr>
          <p:cNvPr id="16" name="Shape 14"/>
          <p:cNvSpPr/>
          <p:nvPr/>
        </p:nvSpPr>
        <p:spPr>
          <a:xfrm>
            <a:off x="3703320" y="3520440"/>
            <a:ext cx="2834640" cy="73152"/>
          </a:xfrm>
          <a:prstGeom prst="rect">
            <a:avLst/>
          </a:prstGeom>
          <a:solidFill>
            <a:srgbClr val="F26A21"/>
          </a:solidFill>
          <a:ln w="12700">
            <a:solidFill>
              <a:srgbClr val="F26A21"/>
            </a:solidFill>
            <a:prstDash val="solid"/>
          </a:ln>
        </p:spPr>
        <p:txBody>
          <a:bodyPr/>
          <a:lstStyle/>
          <a:p>
            <a:endParaRPr lang="es-CL"/>
          </a:p>
        </p:txBody>
      </p:sp>
      <p:sp>
        <p:nvSpPr>
          <p:cNvPr id="17" name="Text 15"/>
          <p:cNvSpPr/>
          <p:nvPr/>
        </p:nvSpPr>
        <p:spPr>
          <a:xfrm>
            <a:off x="3867912" y="3721608"/>
            <a:ext cx="2514600" cy="219456"/>
          </a:xfrm>
          <a:prstGeom prst="rect">
            <a:avLst/>
          </a:prstGeom>
          <a:noFill/>
          <a:ln/>
        </p:spPr>
        <p:txBody>
          <a:bodyPr wrap="square" lIns="0" tIns="0" rIns="0" bIns="0" rtlCol="0" anchor="ctr"/>
          <a:lstStyle/>
          <a:p>
            <a:pPr marL="0" indent="0">
              <a:buNone/>
            </a:pPr>
            <a:r>
              <a:rPr lang="en-US" sz="1100" b="1" dirty="0">
                <a:solidFill>
                  <a:srgbClr val="0B1F3A"/>
                </a:solidFill>
                <a:latin typeface="Montserrat" pitchFamily="34" charset="0"/>
                <a:ea typeface="Montserrat" pitchFamily="34" charset="-122"/>
                <a:cs typeface="Montserrat" pitchFamily="34" charset="-120"/>
              </a:rPr>
              <a:t>Garantía real</a:t>
            </a:r>
            <a:endParaRPr lang="en-US" sz="1100" dirty="0"/>
          </a:p>
        </p:txBody>
      </p:sp>
      <p:sp>
        <p:nvSpPr>
          <p:cNvPr id="18" name="Text 16"/>
          <p:cNvSpPr/>
          <p:nvPr/>
        </p:nvSpPr>
        <p:spPr>
          <a:xfrm>
            <a:off x="3867912" y="4050792"/>
            <a:ext cx="2514600" cy="777240"/>
          </a:xfrm>
          <a:prstGeom prst="rect">
            <a:avLst/>
          </a:prstGeom>
          <a:noFill/>
          <a:ln/>
        </p:spPr>
        <p:txBody>
          <a:bodyPr wrap="square" lIns="0" tIns="0" rIns="0" bIns="0" rtlCol="0" anchor="ctr">
            <a:normAutofit/>
          </a:bodyPr>
          <a:lstStyle/>
          <a:p>
            <a:pPr marL="0" indent="0">
              <a:buNone/>
            </a:pPr>
            <a:r>
              <a:rPr lang="en-US" sz="870" dirty="0">
                <a:solidFill>
                  <a:srgbClr val="6B6560"/>
                </a:solidFill>
                <a:latin typeface="Poppins" pitchFamily="34" charset="0"/>
                <a:ea typeface="Poppins" pitchFamily="34" charset="-122"/>
                <a:cs typeface="Poppins" pitchFamily="34" charset="-120"/>
              </a:rPr>
              <a:t>Garantía de 1 a 2 años según producto. </a:t>
            </a:r>
            <a:endParaRPr lang="en-US" sz="870" dirty="0"/>
          </a:p>
        </p:txBody>
      </p:sp>
      <p:sp>
        <p:nvSpPr>
          <p:cNvPr id="19" name="Shape 17"/>
          <p:cNvSpPr/>
          <p:nvPr/>
        </p:nvSpPr>
        <p:spPr>
          <a:xfrm>
            <a:off x="502920" y="5394960"/>
            <a:ext cx="2834640" cy="1600200"/>
          </a:xfrm>
          <a:prstGeom prst="roundRect">
            <a:avLst>
              <a:gd name="adj" fmla="val 3429"/>
            </a:avLst>
          </a:prstGeom>
          <a:solidFill>
            <a:srgbClr val="FFFFFF"/>
          </a:solidFill>
          <a:ln w="12700">
            <a:solidFill>
              <a:srgbClr val="E5E0D8"/>
            </a:solidFill>
            <a:prstDash val="solid"/>
          </a:ln>
          <a:effectLst>
            <a:outerShdw blurRad="12700" dist="6350" dir="2700000" algn="bl" rotWithShape="0">
              <a:srgbClr val="000000">
                <a:alpha val="12000"/>
              </a:srgbClr>
            </a:outerShdw>
          </a:effectLst>
        </p:spPr>
        <p:txBody>
          <a:bodyPr/>
          <a:lstStyle/>
          <a:p>
            <a:endParaRPr lang="es-CL"/>
          </a:p>
        </p:txBody>
      </p:sp>
      <p:sp>
        <p:nvSpPr>
          <p:cNvPr id="20" name="Shape 18"/>
          <p:cNvSpPr/>
          <p:nvPr/>
        </p:nvSpPr>
        <p:spPr>
          <a:xfrm>
            <a:off x="502920" y="5394960"/>
            <a:ext cx="2834640" cy="73152"/>
          </a:xfrm>
          <a:prstGeom prst="rect">
            <a:avLst/>
          </a:prstGeom>
          <a:solidFill>
            <a:srgbClr val="F26A21"/>
          </a:solidFill>
          <a:ln w="12700">
            <a:solidFill>
              <a:srgbClr val="F26A21"/>
            </a:solidFill>
            <a:prstDash val="solid"/>
          </a:ln>
        </p:spPr>
        <p:txBody>
          <a:bodyPr/>
          <a:lstStyle/>
          <a:p>
            <a:endParaRPr lang="es-CL"/>
          </a:p>
        </p:txBody>
      </p:sp>
      <p:sp>
        <p:nvSpPr>
          <p:cNvPr id="21" name="Text 19"/>
          <p:cNvSpPr/>
          <p:nvPr/>
        </p:nvSpPr>
        <p:spPr>
          <a:xfrm>
            <a:off x="667512" y="5596128"/>
            <a:ext cx="2514600" cy="219456"/>
          </a:xfrm>
          <a:prstGeom prst="rect">
            <a:avLst/>
          </a:prstGeom>
          <a:noFill/>
          <a:ln/>
        </p:spPr>
        <p:txBody>
          <a:bodyPr wrap="square" lIns="0" tIns="0" rIns="0" bIns="0" rtlCol="0" anchor="ctr"/>
          <a:lstStyle/>
          <a:p>
            <a:pPr marL="0" indent="0">
              <a:buNone/>
            </a:pPr>
            <a:r>
              <a:rPr lang="en-US" sz="1100" b="1" dirty="0">
                <a:solidFill>
                  <a:srgbClr val="0B1F3A"/>
                </a:solidFill>
                <a:latin typeface="Montserrat" pitchFamily="34" charset="0"/>
                <a:ea typeface="Montserrat" pitchFamily="34" charset="-122"/>
                <a:cs typeface="Montserrat" pitchFamily="34" charset="-120"/>
              </a:rPr>
              <a:t>Asesoría especializada</a:t>
            </a:r>
            <a:endParaRPr lang="en-US" sz="1100" dirty="0"/>
          </a:p>
        </p:txBody>
      </p:sp>
      <p:sp>
        <p:nvSpPr>
          <p:cNvPr id="22" name="Text 20"/>
          <p:cNvSpPr/>
          <p:nvPr/>
        </p:nvSpPr>
        <p:spPr>
          <a:xfrm>
            <a:off x="667512" y="5925312"/>
            <a:ext cx="2514600" cy="777240"/>
          </a:xfrm>
          <a:prstGeom prst="rect">
            <a:avLst/>
          </a:prstGeom>
          <a:noFill/>
          <a:ln/>
        </p:spPr>
        <p:txBody>
          <a:bodyPr wrap="square" lIns="0" tIns="0" rIns="0" bIns="0" rtlCol="0" anchor="ctr">
            <a:normAutofit/>
          </a:bodyPr>
          <a:lstStyle/>
          <a:p>
            <a:pPr marL="0" indent="0">
              <a:buNone/>
            </a:pPr>
            <a:r>
              <a:rPr lang="en-US" sz="870" dirty="0">
                <a:solidFill>
                  <a:srgbClr val="6B6560"/>
                </a:solidFill>
                <a:latin typeface="Poppins" pitchFamily="34" charset="0"/>
                <a:ea typeface="Poppins" pitchFamily="34" charset="-122"/>
                <a:cs typeface="Poppins" pitchFamily="34" charset="-120"/>
              </a:rPr>
              <a:t>Nuestro equipo te guía en la elección correcta para cada espacio y presupuesto.</a:t>
            </a:r>
            <a:endParaRPr lang="en-US" sz="870" dirty="0"/>
          </a:p>
        </p:txBody>
      </p:sp>
      <p:sp>
        <p:nvSpPr>
          <p:cNvPr id="23" name="Shape 21"/>
          <p:cNvSpPr/>
          <p:nvPr/>
        </p:nvSpPr>
        <p:spPr>
          <a:xfrm>
            <a:off x="3703320" y="5394960"/>
            <a:ext cx="2834640" cy="1600200"/>
          </a:xfrm>
          <a:prstGeom prst="roundRect">
            <a:avLst>
              <a:gd name="adj" fmla="val 3429"/>
            </a:avLst>
          </a:prstGeom>
          <a:solidFill>
            <a:srgbClr val="FFFFFF"/>
          </a:solidFill>
          <a:ln w="12700">
            <a:solidFill>
              <a:srgbClr val="E5E0D8"/>
            </a:solidFill>
            <a:prstDash val="solid"/>
          </a:ln>
          <a:effectLst>
            <a:outerShdw blurRad="12700" dist="6350" dir="2700000" algn="bl" rotWithShape="0">
              <a:srgbClr val="000000">
                <a:alpha val="12000"/>
              </a:srgbClr>
            </a:outerShdw>
          </a:effectLst>
        </p:spPr>
        <p:txBody>
          <a:bodyPr/>
          <a:lstStyle/>
          <a:p>
            <a:endParaRPr lang="es-CL"/>
          </a:p>
        </p:txBody>
      </p:sp>
      <p:sp>
        <p:nvSpPr>
          <p:cNvPr id="24" name="Shape 22"/>
          <p:cNvSpPr/>
          <p:nvPr/>
        </p:nvSpPr>
        <p:spPr>
          <a:xfrm>
            <a:off x="3703320" y="5394960"/>
            <a:ext cx="2834640" cy="73152"/>
          </a:xfrm>
          <a:prstGeom prst="rect">
            <a:avLst/>
          </a:prstGeom>
          <a:solidFill>
            <a:srgbClr val="F26A21"/>
          </a:solidFill>
          <a:ln w="12700">
            <a:solidFill>
              <a:srgbClr val="F26A21"/>
            </a:solidFill>
            <a:prstDash val="solid"/>
          </a:ln>
        </p:spPr>
        <p:txBody>
          <a:bodyPr/>
          <a:lstStyle/>
          <a:p>
            <a:endParaRPr lang="es-CL"/>
          </a:p>
        </p:txBody>
      </p:sp>
      <p:sp>
        <p:nvSpPr>
          <p:cNvPr id="25" name="Text 23"/>
          <p:cNvSpPr/>
          <p:nvPr/>
        </p:nvSpPr>
        <p:spPr>
          <a:xfrm>
            <a:off x="3867912" y="5596128"/>
            <a:ext cx="2514600" cy="219456"/>
          </a:xfrm>
          <a:prstGeom prst="rect">
            <a:avLst/>
          </a:prstGeom>
          <a:noFill/>
          <a:ln/>
        </p:spPr>
        <p:txBody>
          <a:bodyPr wrap="square" lIns="0" tIns="0" rIns="0" bIns="0" rtlCol="0" anchor="ctr"/>
          <a:lstStyle/>
          <a:p>
            <a:pPr marL="0" indent="0">
              <a:buNone/>
            </a:pPr>
            <a:r>
              <a:rPr lang="en-US" sz="1100" b="1" dirty="0">
                <a:solidFill>
                  <a:srgbClr val="0B1F3A"/>
                </a:solidFill>
                <a:latin typeface="Montserrat" pitchFamily="34" charset="0"/>
                <a:ea typeface="Montserrat" pitchFamily="34" charset="-122"/>
                <a:cs typeface="Montserrat" pitchFamily="34" charset="-120"/>
              </a:rPr>
              <a:t>Despacho nacional</a:t>
            </a:r>
            <a:endParaRPr lang="en-US" sz="1100" dirty="0"/>
          </a:p>
        </p:txBody>
      </p:sp>
      <p:sp>
        <p:nvSpPr>
          <p:cNvPr id="26" name="Text 24"/>
          <p:cNvSpPr/>
          <p:nvPr/>
        </p:nvSpPr>
        <p:spPr>
          <a:xfrm>
            <a:off x="3867912" y="5925312"/>
            <a:ext cx="2514600" cy="777240"/>
          </a:xfrm>
          <a:prstGeom prst="rect">
            <a:avLst/>
          </a:prstGeom>
          <a:noFill/>
          <a:ln/>
        </p:spPr>
        <p:txBody>
          <a:bodyPr wrap="square" lIns="0" tIns="0" rIns="0" bIns="0" rtlCol="0" anchor="ctr">
            <a:normAutofit/>
          </a:bodyPr>
          <a:lstStyle/>
          <a:p>
            <a:pPr marL="0" indent="0">
              <a:buNone/>
            </a:pPr>
            <a:r>
              <a:rPr lang="en-US" sz="870" dirty="0">
                <a:solidFill>
                  <a:srgbClr val="6B6560"/>
                </a:solidFill>
                <a:latin typeface="Poppins" pitchFamily="34" charset="0"/>
                <a:ea typeface="Poppins" pitchFamily="34" charset="-122"/>
                <a:cs typeface="Poppins" pitchFamily="34" charset="-120"/>
              </a:rPr>
              <a:t>Enviamos a todo Chile con seguimiento en tiempo real. Instalación disponible.</a:t>
            </a:r>
            <a:endParaRPr lang="en-US" sz="870" dirty="0"/>
          </a:p>
        </p:txBody>
      </p:sp>
      <p:sp>
        <p:nvSpPr>
          <p:cNvPr id="27" name="Shape 25"/>
          <p:cNvSpPr/>
          <p:nvPr/>
        </p:nvSpPr>
        <p:spPr>
          <a:xfrm>
            <a:off x="502920" y="7635240"/>
            <a:ext cx="6556248" cy="1737360"/>
          </a:xfrm>
          <a:prstGeom prst="roundRect">
            <a:avLst>
              <a:gd name="adj" fmla="val 4211"/>
            </a:avLst>
          </a:prstGeom>
          <a:solidFill>
            <a:srgbClr val="0B1F3A"/>
          </a:solidFill>
          <a:ln w="12700">
            <a:solidFill>
              <a:srgbClr val="F26A21"/>
            </a:solidFill>
            <a:prstDash val="solid"/>
          </a:ln>
        </p:spPr>
        <p:txBody>
          <a:bodyPr/>
          <a:lstStyle/>
          <a:p>
            <a:endParaRPr lang="es-CL"/>
          </a:p>
        </p:txBody>
      </p:sp>
      <p:sp>
        <p:nvSpPr>
          <p:cNvPr id="28" name="Text 26"/>
          <p:cNvSpPr/>
          <p:nvPr/>
        </p:nvSpPr>
        <p:spPr>
          <a:xfrm>
            <a:off x="685800" y="8046720"/>
            <a:ext cx="1920240" cy="219456"/>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+56 9 6432 9683</a:t>
            </a:r>
            <a:endParaRPr lang="en-US" sz="1300" dirty="0"/>
          </a:p>
        </p:txBody>
      </p:sp>
      <p:sp>
        <p:nvSpPr>
          <p:cNvPr id="29" name="Text 27"/>
          <p:cNvSpPr/>
          <p:nvPr/>
        </p:nvSpPr>
        <p:spPr>
          <a:xfrm>
            <a:off x="2664296" y="7982712"/>
            <a:ext cx="2078048" cy="283464"/>
          </a:xfrm>
          <a:prstGeom prst="rect">
            <a:avLst/>
          </a:prstGeom>
          <a:noFill/>
          <a:ln/>
        </p:spPr>
        <p:txBody>
          <a:bodyPr wrap="square" lIns="0" tIns="0" rIns="0" bIns="0" rtlCol="0" anchor="ctr"/>
          <a:lstStyle/>
          <a:p>
            <a:pPr marL="0" indent="0">
              <a:buNone/>
            </a:pPr>
            <a:r>
              <a:rPr lang="en-US" sz="1300" b="1" dirty="0" err="1">
                <a:solidFill>
                  <a:srgbClr val="FFFFFF"/>
                </a:solidFill>
                <a:latin typeface="Montserrat" pitchFamily="34" charset="0"/>
                <a:ea typeface="Montserrat" pitchFamily="34" charset="-122"/>
                <a:cs typeface="Montserrat" pitchFamily="34" charset="-120"/>
              </a:rPr>
              <a:t>athlixchile@gmail.com</a:t>
            </a:r>
            <a:endParaRPr lang="en-US" sz="1300" dirty="0"/>
          </a:p>
        </p:txBody>
      </p:sp>
      <p:sp>
        <p:nvSpPr>
          <p:cNvPr id="30" name="Text 28"/>
          <p:cNvSpPr/>
          <p:nvPr/>
        </p:nvSpPr>
        <p:spPr>
          <a:xfrm>
            <a:off x="4798240" y="8029120"/>
            <a:ext cx="2078048" cy="219456"/>
          </a:xfrm>
          <a:prstGeom prst="rect">
            <a:avLst/>
          </a:prstGeom>
          <a:noFill/>
          <a:ln/>
        </p:spPr>
        <p:txBody>
          <a:bodyPr wrap="square" lIns="0" tIns="0" rIns="0" bIns="0" rtlCol="0" anchor="ctr"/>
          <a:lstStyle/>
          <a:p>
            <a:pPr marL="0" indent="0" algn="r">
              <a:buNone/>
            </a:pPr>
            <a:r>
              <a:rPr lang="en-US" sz="1300" b="1" dirty="0">
                <a:solidFill>
                  <a:srgbClr val="F26A21"/>
                </a:solidFill>
                <a:latin typeface="Montserrat" pitchFamily="34" charset="0"/>
                <a:ea typeface="Montserrat" pitchFamily="34" charset="-122"/>
                <a:cs typeface="Montserrat" pitchFamily="34" charset="-120"/>
              </a:rPr>
              <a:t>Despacho a todo Chile</a:t>
            </a:r>
            <a:endParaRPr lang="en-US" sz="1300" dirty="0"/>
          </a:p>
        </p:txBody>
      </p:sp>
      <p:sp>
        <p:nvSpPr>
          <p:cNvPr id="31" name="Text 29"/>
          <p:cNvSpPr/>
          <p:nvPr/>
        </p:nvSpPr>
        <p:spPr>
          <a:xfrm>
            <a:off x="685800" y="8503920"/>
            <a:ext cx="6190488" cy="502920"/>
          </a:xfrm>
          <a:prstGeom prst="rect">
            <a:avLst/>
          </a:prstGeom>
          <a:noFill/>
          <a:ln/>
        </p:spPr>
        <p:txBody>
          <a:bodyPr wrap="square" lIns="0" tIns="0" rIns="0" bIns="0" rtlCol="0" anchor="ctr">
            <a:normAutofit/>
          </a:bodyPr>
          <a:lstStyle/>
          <a:p>
            <a:pPr marL="0" indent="0">
              <a:buNone/>
            </a:pPr>
            <a:r>
              <a:rPr lang="en-US" sz="880" dirty="0">
                <a:solidFill>
                  <a:srgbClr val="CBD5E1"/>
                </a:solidFill>
                <a:latin typeface="Poppins" pitchFamily="34" charset="0"/>
                <a:ea typeface="Poppins" pitchFamily="34" charset="-122"/>
                <a:cs typeface="Poppins" pitchFamily="34" charset="-120"/>
              </a:rPr>
              <a:t>Atendemos colegios, municipalidades, clubes deportivos y organismos públicos con un proceso comercial ágil y personalizado.</a:t>
            </a:r>
            <a:endParaRPr lang="en-US" sz="880" dirty="0"/>
          </a:p>
        </p:txBody>
      </p:sp>
      <p:sp>
        <p:nvSpPr>
          <p:cNvPr id="32" name="Text 30"/>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33" name="Text 31"/>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1 de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55321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88696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833872" y="4160520"/>
            <a:ext cx="1005840" cy="1005840"/>
          </a:xfrm>
          <a:prstGeom prst="ellipse">
            <a:avLst/>
          </a:prstGeom>
          <a:solidFill>
            <a:srgbClr val="F26A21"/>
          </a:solidFill>
          <a:ln w="12700">
            <a:solidFill>
              <a:srgbClr val="F26A21"/>
            </a:solidFill>
            <a:prstDash val="solid"/>
          </a:ln>
        </p:spPr>
        <p:txBody>
          <a:bodyPr/>
          <a:lstStyle/>
          <a:p>
            <a:endParaRPr lang="es-CL"/>
          </a:p>
        </p:txBody>
      </p:sp>
      <p:sp>
        <p:nvSpPr>
          <p:cNvPr id="6" name="Text 4"/>
          <p:cNvSpPr/>
          <p:nvPr/>
        </p:nvSpPr>
        <p:spPr>
          <a:xfrm>
            <a:off x="502920" y="4434840"/>
            <a:ext cx="1371600" cy="164592"/>
          </a:xfrm>
          <a:prstGeom prst="rect">
            <a:avLst/>
          </a:prstGeom>
          <a:noFill/>
          <a:ln/>
        </p:spPr>
        <p:txBody>
          <a:bodyPr wrap="square" lIns="0" tIns="0" rIns="0" bIns="0" rtlCol="0" anchor="ctr"/>
          <a:lstStyle/>
          <a:p>
            <a:pPr marL="0" indent="0">
              <a:buNone/>
            </a:pPr>
            <a:r>
              <a:rPr lang="en-US" sz="1200" b="1" dirty="0">
                <a:solidFill>
                  <a:srgbClr val="F26A21"/>
                </a:solidFill>
                <a:latin typeface="Poppins" pitchFamily="34" charset="0"/>
                <a:ea typeface="Poppins" pitchFamily="34" charset="-122"/>
                <a:cs typeface="Poppins" pitchFamily="34" charset="-120"/>
              </a:rPr>
              <a:t>SECCIÓN 01</a:t>
            </a:r>
            <a:endParaRPr lang="en-US" sz="1200" dirty="0"/>
          </a:p>
        </p:txBody>
      </p:sp>
      <p:sp>
        <p:nvSpPr>
          <p:cNvPr id="7" name="Text 5"/>
          <p:cNvSpPr/>
          <p:nvPr/>
        </p:nvSpPr>
        <p:spPr>
          <a:xfrm>
            <a:off x="502920" y="4937760"/>
            <a:ext cx="4389120" cy="411480"/>
          </a:xfrm>
          <a:prstGeom prst="rect">
            <a:avLst/>
          </a:prstGeom>
          <a:noFill/>
          <a:ln/>
        </p:spPr>
        <p:txBody>
          <a:bodyPr wrap="square" lIns="0" tIns="0" rIns="0" bIns="0" rtlCol="0" anchor="ctr">
            <a:normAutofit lnSpcReduction="10000"/>
          </a:bodyPr>
          <a:lstStyle/>
          <a:p>
            <a:pPr marL="0" indent="0">
              <a:buNone/>
            </a:pPr>
            <a:r>
              <a:rPr lang="en-US" sz="2800" b="1" dirty="0">
                <a:solidFill>
                  <a:srgbClr val="FFFFFF"/>
                </a:solidFill>
                <a:latin typeface="Montserrat" pitchFamily="34" charset="0"/>
                <a:ea typeface="Montserrat" pitchFamily="34" charset="-122"/>
                <a:cs typeface="Montserrat" pitchFamily="34" charset="-120"/>
              </a:rPr>
              <a:t>ARCOS DE FÚTBOL</a:t>
            </a:r>
            <a:endParaRPr lang="en-US" sz="2800" dirty="0"/>
          </a:p>
        </p:txBody>
      </p:sp>
      <p:sp>
        <p:nvSpPr>
          <p:cNvPr id="8" name="Text 6"/>
          <p:cNvSpPr/>
          <p:nvPr/>
        </p:nvSpPr>
        <p:spPr>
          <a:xfrm>
            <a:off x="502920" y="5715000"/>
            <a:ext cx="4023360" cy="201168"/>
          </a:xfrm>
          <a:prstGeom prst="rect">
            <a:avLst/>
          </a:prstGeom>
          <a:noFill/>
          <a:ln/>
        </p:spPr>
        <p:txBody>
          <a:bodyPr wrap="square" lIns="0" tIns="0" rIns="0" bIns="0" rtlCol="0" anchor="ctr"/>
          <a:lstStyle/>
          <a:p>
            <a:pPr marL="0" indent="0">
              <a:buNone/>
            </a:pPr>
            <a:r>
              <a:rPr lang="en-US" sz="1000" dirty="0">
                <a:solidFill>
                  <a:srgbClr val="A8B6CC"/>
                </a:solidFill>
                <a:latin typeface="Poppins" pitchFamily="34" charset="0"/>
                <a:ea typeface="Poppins" pitchFamily="34" charset="-122"/>
                <a:cs typeface="Poppins" pitchFamily="34" charset="-120"/>
              </a:rPr>
              <a:t>Equipamiento reglamentario para canchas escolares</a:t>
            </a:r>
            <a:endParaRPr lang="en-US" sz="1000" dirty="0"/>
          </a:p>
        </p:txBody>
      </p:sp>
      <p:sp>
        <p:nvSpPr>
          <p:cNvPr id="9" name="Shape 7"/>
          <p:cNvSpPr/>
          <p:nvPr/>
        </p:nvSpPr>
        <p:spPr>
          <a:xfrm>
            <a:off x="502920" y="6355080"/>
            <a:ext cx="1005840" cy="0"/>
          </a:xfrm>
          <a:prstGeom prst="line">
            <a:avLst/>
          </a:prstGeom>
          <a:noFill/>
          <a:ln w="12700">
            <a:solidFill>
              <a:srgbClr val="F26A21"/>
            </a:solidFill>
            <a:prstDash val="solid"/>
          </a:ln>
        </p:spPr>
        <p:txBody>
          <a:bodyPr/>
          <a:lstStyle/>
          <a:p>
            <a:endParaRPr lang="es-CL"/>
          </a:p>
        </p:txBody>
      </p:sp>
      <p:sp>
        <p:nvSpPr>
          <p:cNvPr id="10" name="Text 8"/>
          <p:cNvSpPr/>
          <p:nvPr/>
        </p:nvSpPr>
        <p:spPr>
          <a:xfrm>
            <a:off x="5212080" y="6812280"/>
            <a:ext cx="1005840" cy="457200"/>
          </a:xfrm>
          <a:prstGeom prst="rect">
            <a:avLst/>
          </a:prstGeom>
          <a:noFill/>
          <a:ln/>
        </p:spPr>
        <p:txBody>
          <a:bodyPr wrap="square" lIns="0" tIns="0" rIns="0" bIns="0" rtlCol="0" anchor="ctr"/>
          <a:lstStyle/>
          <a:p>
            <a:pPr marL="0" indent="0" algn="r">
              <a:buNone/>
            </a:pPr>
            <a:r>
              <a:rPr lang="en-US" sz="2100" b="1" dirty="0">
                <a:solidFill>
                  <a:srgbClr val="F26A21"/>
                </a:solidFill>
                <a:latin typeface="Montserrat" pitchFamily="34" charset="0"/>
                <a:ea typeface="Montserrat" pitchFamily="34" charset="-122"/>
                <a:cs typeface="Montserrat" pitchFamily="34" charset="-120"/>
              </a:rPr>
              <a:t>01</a:t>
            </a:r>
            <a:endParaRPr lang="en-US" sz="2100" dirty="0">
              <a:solidFill>
                <a:srgbClr val="F26A21"/>
              </a:solidFill>
            </a:endParaRPr>
          </a:p>
        </p:txBody>
      </p:sp>
      <p:sp>
        <p:nvSpPr>
          <p:cNvPr id="11" name="Text 9"/>
          <p:cNvSpPr/>
          <p:nvPr/>
        </p:nvSpPr>
        <p:spPr>
          <a:xfrm>
            <a:off x="5715000" y="2240280"/>
            <a:ext cx="914400" cy="5943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Shape 10"/>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13" name="Text 11"/>
          <p:cNvSpPr/>
          <p:nvPr/>
        </p:nvSpPr>
        <p:spPr>
          <a:xfrm>
            <a:off x="502920" y="10323576"/>
            <a:ext cx="4389120" cy="128016"/>
          </a:xfrm>
          <a:prstGeom prst="rect">
            <a:avLst/>
          </a:prstGeom>
          <a:noFill/>
          <a:ln/>
        </p:spPr>
        <p:txBody>
          <a:bodyPr wrap="square" lIns="0" tIns="0" rIns="0" bIns="0" rtlCol="0" anchor="ctr"/>
          <a:lstStyle/>
          <a:p>
            <a:r>
              <a:rPr lang="en-US" sz="750" dirty="0">
                <a:solidFill>
                  <a:srgbClr val="CBD5E1"/>
                </a:solidFill>
                <a:latin typeface="Poppins" pitchFamily="34" charset="0"/>
                <a:ea typeface="Poppins" pitchFamily="34" charset="-122"/>
                <a:cs typeface="Poppins" pitchFamily="34" charset="-120"/>
              </a:rPr>
              <a:t>ATHLIX STORE </a:t>
            </a:r>
            <a:r>
              <a:rPr lang="en-US" sz="750" dirty="0" err="1">
                <a:solidFill>
                  <a:srgbClr val="CBD5E1"/>
                </a:solidFill>
                <a:latin typeface="Poppins" pitchFamily="34" charset="0"/>
                <a:ea typeface="Poppins" pitchFamily="34" charset="-122"/>
                <a:cs typeface="Poppins" pitchFamily="34" charset="-120"/>
              </a:rPr>
              <a:t>SpA</a:t>
            </a:r>
            <a:r>
              <a:rPr lang="en-US" sz="750" dirty="0">
                <a:solidFill>
                  <a:srgbClr val="CBD5E1"/>
                </a:solidFill>
                <a:latin typeface="Poppins" pitchFamily="34" charset="0"/>
                <a:ea typeface="Poppins" pitchFamily="34" charset="-122"/>
                <a:cs typeface="Poppins" pitchFamily="34" charset="-120"/>
              </a:rPr>
              <a:t> · </a:t>
            </a:r>
            <a:r>
              <a:rPr lang="en-US" sz="750" dirty="0" err="1">
                <a:solidFill>
                  <a:srgbClr val="CBD5E1"/>
                </a:solidFill>
                <a:latin typeface="Poppins" pitchFamily="34" charset="0"/>
                <a:ea typeface="Poppins" pitchFamily="34" charset="-122"/>
                <a:cs typeface="Poppins" pitchFamily="34" charset="-120"/>
              </a:rPr>
              <a:t>Catálogo</a:t>
            </a:r>
            <a:r>
              <a:rPr lang="en-US" sz="750" dirty="0">
                <a:solidFill>
                  <a:srgbClr val="CBD5E1"/>
                </a:solidFill>
                <a:latin typeface="Poppins" pitchFamily="34" charset="0"/>
                <a:ea typeface="Poppins" pitchFamily="34" charset="-122"/>
                <a:cs typeface="Poppins" pitchFamily="34" charset="-120"/>
              </a:rPr>
              <a:t> de </a:t>
            </a:r>
            <a:r>
              <a:rPr lang="en-US" sz="750" dirty="0" err="1">
                <a:solidFill>
                  <a:srgbClr val="CBD5E1"/>
                </a:solidFill>
                <a:latin typeface="Poppins" pitchFamily="34" charset="0"/>
                <a:ea typeface="Poppins" pitchFamily="34" charset="-122"/>
                <a:cs typeface="Poppins" pitchFamily="34" charset="-120"/>
              </a:rPr>
              <a:t>productos</a:t>
            </a:r>
            <a:r>
              <a:rPr lang="en-US" sz="750" dirty="0">
                <a:solidFill>
                  <a:srgbClr val="CBD5E1"/>
                </a:solidFill>
                <a:latin typeface="Poppins" pitchFamily="34" charset="0"/>
                <a:ea typeface="Poppins" pitchFamily="34" charset="-122"/>
                <a:cs typeface="Poppins" pitchFamily="34" charset="-120"/>
              </a:rPr>
              <a:t> 2026</a:t>
            </a:r>
            <a:endParaRPr lang="en-US" sz="750" dirty="0"/>
          </a:p>
        </p:txBody>
      </p:sp>
      <p:sp>
        <p:nvSpPr>
          <p:cNvPr id="14" name="Text 12"/>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Sección 01</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ATH-AF-001</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Arco de Fútbol Oficial Reglamentario</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Ideal para competencias inter-escolares y canchas de pasto o cemento</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Arco de fútbol de acero galvanizado de alta resistencia, diseñado para soportar condiciones climáticas extremas. Estructura tubular de 76 mm de diámetro con tratamiento anticorrosión. Compatible con canchas de pasto natural, sintético y cemento. Incluye sistema de anclaje al suelo con estacas de acero inoxidable y red de polipropileno de 5 mm.</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Acero galvanizado</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Anti-corrosión</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Red incluida</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Anclaje seguro</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Fácil montaje</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Medidas</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7.32 m x 2.44 m (Reglamento FIFA)</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Material</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galvanizado calibre 16</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Diámetro tubo</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76 mm</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Acabado</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Pintura epóxica blanca UV</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Red incluida</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Polipropileno 5 mm, malla 12x12 cm</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Anclaje</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Estacas acero inoxidable + platinas</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85 kg (par completo)</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Precio por par (2 arcos). Instalación disponible a consultar por separado.</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2 de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ATH-AF-002</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Arco de Fútbol 7 / Futbolito</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Perfecto para patios escolares, canchas pequeñas y deporte recreativo</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Arco compacto diseñado especialmente para espacios reducidos como patios de colegios y canchas de fútbol 7. Construcción en acero pintado con esquinas redondeadas para mayor seguridad. Sistema de montaje rápido sin soldadura en terreno. Opcionalmente con ruedas para fácil traslado entre sectores del establecimiento.</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Seguro niños</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Fácil traslado</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Sin soldadura</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Red incluida</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Espacios reducidos</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Medidas</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5.00 m x 2.00 m</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Material</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pintado, esquinas redondeadas</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Diámetro tubo</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60 mm</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Acabado</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Pintura epóxica blanca</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Red incluida</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Nylon 3 mm, malla 10x10 cm</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Traslado</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Opcional ruedas de caucho</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42 kg (par completo)</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Disponible también en medidas 3x2 m para categorías infantiles menores. Consultar.</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3 de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55321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88696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833872" y="4160520"/>
            <a:ext cx="1005840" cy="1005840"/>
          </a:xfrm>
          <a:prstGeom prst="ellipse">
            <a:avLst/>
          </a:prstGeom>
          <a:solidFill>
            <a:srgbClr val="F26A21"/>
          </a:solidFill>
          <a:ln w="12700">
            <a:solidFill>
              <a:srgbClr val="F26A21"/>
            </a:solidFill>
            <a:prstDash val="solid"/>
          </a:ln>
        </p:spPr>
        <p:txBody>
          <a:bodyPr/>
          <a:lstStyle/>
          <a:p>
            <a:endParaRPr lang="es-CL"/>
          </a:p>
        </p:txBody>
      </p:sp>
      <p:sp>
        <p:nvSpPr>
          <p:cNvPr id="6" name="Text 4"/>
          <p:cNvSpPr/>
          <p:nvPr/>
        </p:nvSpPr>
        <p:spPr>
          <a:xfrm>
            <a:off x="502919" y="4370833"/>
            <a:ext cx="1443867" cy="228599"/>
          </a:xfrm>
          <a:prstGeom prst="rect">
            <a:avLst/>
          </a:prstGeom>
          <a:noFill/>
          <a:ln/>
        </p:spPr>
        <p:txBody>
          <a:bodyPr wrap="square" lIns="0" tIns="0" rIns="0" bIns="0" rtlCol="0" anchor="ctr"/>
          <a:lstStyle/>
          <a:p>
            <a:pPr marL="0" indent="0">
              <a:buNone/>
            </a:pPr>
            <a:r>
              <a:rPr lang="en-US" sz="1200" b="1" dirty="0">
                <a:solidFill>
                  <a:srgbClr val="F26A21"/>
                </a:solidFill>
                <a:latin typeface="Poppins" pitchFamily="34" charset="0"/>
                <a:ea typeface="Poppins" pitchFamily="34" charset="-122"/>
                <a:cs typeface="Poppins" pitchFamily="34" charset="-120"/>
              </a:rPr>
              <a:t>SECCIÓN 02</a:t>
            </a:r>
            <a:endParaRPr lang="en-US" sz="1200" dirty="0"/>
          </a:p>
        </p:txBody>
      </p:sp>
      <p:sp>
        <p:nvSpPr>
          <p:cNvPr id="7" name="Text 5"/>
          <p:cNvSpPr/>
          <p:nvPr/>
        </p:nvSpPr>
        <p:spPr>
          <a:xfrm>
            <a:off x="502920" y="4599432"/>
            <a:ext cx="5257800" cy="749808"/>
          </a:xfrm>
          <a:prstGeom prst="rect">
            <a:avLst/>
          </a:prstGeom>
          <a:noFill/>
          <a:ln/>
        </p:spPr>
        <p:txBody>
          <a:bodyPr wrap="square" lIns="0" tIns="0" rIns="0" bIns="0" rtlCol="0" anchor="ctr">
            <a:noAutofit/>
          </a:bodyPr>
          <a:lstStyle/>
          <a:p>
            <a:pPr marL="0" indent="0">
              <a:buNone/>
            </a:pPr>
            <a:r>
              <a:rPr lang="en-US" sz="2800" b="1" dirty="0">
                <a:solidFill>
                  <a:srgbClr val="FFFFFF"/>
                </a:solidFill>
                <a:latin typeface="Montserrat" pitchFamily="34" charset="0"/>
                <a:ea typeface="Montserrat" pitchFamily="34" charset="-122"/>
                <a:cs typeface="Montserrat" pitchFamily="34" charset="-120"/>
              </a:rPr>
              <a:t>REDES Y POSTES VOLEIBOL</a:t>
            </a:r>
            <a:endParaRPr lang="en-US" sz="2800" dirty="0"/>
          </a:p>
        </p:txBody>
      </p:sp>
      <p:sp>
        <p:nvSpPr>
          <p:cNvPr id="8" name="Text 6"/>
          <p:cNvSpPr/>
          <p:nvPr/>
        </p:nvSpPr>
        <p:spPr>
          <a:xfrm>
            <a:off x="502920" y="5715000"/>
            <a:ext cx="4023360" cy="201168"/>
          </a:xfrm>
          <a:prstGeom prst="rect">
            <a:avLst/>
          </a:prstGeom>
          <a:noFill/>
          <a:ln/>
        </p:spPr>
        <p:txBody>
          <a:bodyPr wrap="square" lIns="0" tIns="0" rIns="0" bIns="0" rtlCol="0" anchor="ctr"/>
          <a:lstStyle/>
          <a:p>
            <a:pPr marL="0" indent="0">
              <a:buNone/>
            </a:pPr>
            <a:r>
              <a:rPr lang="en-US" sz="1000" dirty="0">
                <a:solidFill>
                  <a:srgbClr val="A8B6CC"/>
                </a:solidFill>
                <a:latin typeface="Poppins" pitchFamily="34" charset="0"/>
                <a:ea typeface="Poppins" pitchFamily="34" charset="-122"/>
                <a:cs typeface="Poppins" pitchFamily="34" charset="-120"/>
              </a:rPr>
              <a:t>Sistemas completos para canchas indoor y outdoor</a:t>
            </a:r>
            <a:endParaRPr lang="en-US" sz="1000" dirty="0"/>
          </a:p>
        </p:txBody>
      </p:sp>
      <p:sp>
        <p:nvSpPr>
          <p:cNvPr id="9" name="Shape 7"/>
          <p:cNvSpPr/>
          <p:nvPr/>
        </p:nvSpPr>
        <p:spPr>
          <a:xfrm>
            <a:off x="502920" y="6355080"/>
            <a:ext cx="1005840" cy="0"/>
          </a:xfrm>
          <a:prstGeom prst="line">
            <a:avLst/>
          </a:prstGeom>
          <a:noFill/>
          <a:ln w="12700">
            <a:solidFill>
              <a:srgbClr val="F26A21"/>
            </a:solidFill>
            <a:prstDash val="solid"/>
          </a:ln>
        </p:spPr>
        <p:txBody>
          <a:bodyPr/>
          <a:lstStyle/>
          <a:p>
            <a:endParaRPr lang="es-CL"/>
          </a:p>
        </p:txBody>
      </p:sp>
      <p:sp>
        <p:nvSpPr>
          <p:cNvPr id="10" name="Text 8"/>
          <p:cNvSpPr/>
          <p:nvPr/>
        </p:nvSpPr>
        <p:spPr>
          <a:xfrm>
            <a:off x="5212080" y="6812280"/>
            <a:ext cx="1005840" cy="457200"/>
          </a:xfrm>
          <a:prstGeom prst="rect">
            <a:avLst/>
          </a:prstGeom>
          <a:noFill/>
          <a:ln/>
        </p:spPr>
        <p:txBody>
          <a:bodyPr wrap="square" lIns="0" tIns="0" rIns="0" bIns="0" rtlCol="0" anchor="ctr"/>
          <a:lstStyle/>
          <a:p>
            <a:pPr marL="0" indent="0" algn="r">
              <a:buNone/>
            </a:pPr>
            <a:r>
              <a:rPr lang="en-US" sz="2100" b="1" dirty="0">
                <a:solidFill>
                  <a:srgbClr val="F26A21"/>
                </a:solidFill>
                <a:latin typeface="Montserrat" pitchFamily="34" charset="0"/>
                <a:ea typeface="Montserrat" pitchFamily="34" charset="-122"/>
                <a:cs typeface="Montserrat" pitchFamily="34" charset="-120"/>
              </a:rPr>
              <a:t>02</a:t>
            </a:r>
            <a:endParaRPr lang="en-US" sz="2100" dirty="0">
              <a:solidFill>
                <a:srgbClr val="F26A21"/>
              </a:solidFill>
            </a:endParaRPr>
          </a:p>
        </p:txBody>
      </p:sp>
      <p:sp>
        <p:nvSpPr>
          <p:cNvPr id="11" name="Text 9"/>
          <p:cNvSpPr/>
          <p:nvPr/>
        </p:nvSpPr>
        <p:spPr>
          <a:xfrm>
            <a:off x="5715000" y="2240280"/>
            <a:ext cx="914400" cy="5943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Shape 10"/>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13" name="Text 11"/>
          <p:cNvSpPr/>
          <p:nvPr/>
        </p:nvSpPr>
        <p:spPr>
          <a:xfrm>
            <a:off x="502920" y="10323576"/>
            <a:ext cx="4389120" cy="128016"/>
          </a:xfrm>
          <a:prstGeom prst="rect">
            <a:avLst/>
          </a:prstGeom>
          <a:noFill/>
          <a:ln/>
        </p:spPr>
        <p:txBody>
          <a:bodyPr wrap="square" lIns="0" tIns="0" rIns="0" bIns="0" rtlCol="0" anchor="ctr"/>
          <a:lstStyle/>
          <a:p>
            <a:r>
              <a:rPr lang="en-US" sz="750" dirty="0">
                <a:solidFill>
                  <a:srgbClr val="CBD5E1"/>
                </a:solidFill>
                <a:latin typeface="Poppins" pitchFamily="34" charset="0"/>
                <a:ea typeface="Poppins" pitchFamily="34" charset="-122"/>
                <a:cs typeface="Poppins" pitchFamily="34" charset="-120"/>
              </a:rPr>
              <a:t>ATHLIX STORE </a:t>
            </a:r>
            <a:r>
              <a:rPr lang="en-US" sz="750" dirty="0" err="1">
                <a:solidFill>
                  <a:srgbClr val="CBD5E1"/>
                </a:solidFill>
                <a:latin typeface="Poppins" pitchFamily="34" charset="0"/>
                <a:ea typeface="Poppins" pitchFamily="34" charset="-122"/>
                <a:cs typeface="Poppins" pitchFamily="34" charset="-120"/>
              </a:rPr>
              <a:t>SpA</a:t>
            </a:r>
            <a:r>
              <a:rPr lang="en-US" sz="750" dirty="0">
                <a:solidFill>
                  <a:srgbClr val="CBD5E1"/>
                </a:solidFill>
                <a:latin typeface="Poppins" pitchFamily="34" charset="0"/>
                <a:ea typeface="Poppins" pitchFamily="34" charset="-122"/>
                <a:cs typeface="Poppins" pitchFamily="34" charset="-120"/>
              </a:rPr>
              <a:t> · </a:t>
            </a:r>
            <a:r>
              <a:rPr lang="en-US" sz="750" dirty="0" err="1">
                <a:solidFill>
                  <a:srgbClr val="CBD5E1"/>
                </a:solidFill>
                <a:latin typeface="Poppins" pitchFamily="34" charset="0"/>
                <a:ea typeface="Poppins" pitchFamily="34" charset="-122"/>
                <a:cs typeface="Poppins" pitchFamily="34" charset="-120"/>
              </a:rPr>
              <a:t>Catálogo</a:t>
            </a:r>
            <a:r>
              <a:rPr lang="en-US" sz="750" dirty="0">
                <a:solidFill>
                  <a:srgbClr val="CBD5E1"/>
                </a:solidFill>
                <a:latin typeface="Poppins" pitchFamily="34" charset="0"/>
                <a:ea typeface="Poppins" pitchFamily="34" charset="-122"/>
                <a:cs typeface="Poppins" pitchFamily="34" charset="-120"/>
              </a:rPr>
              <a:t> de </a:t>
            </a:r>
            <a:r>
              <a:rPr lang="en-US" sz="750" dirty="0" err="1">
                <a:solidFill>
                  <a:srgbClr val="CBD5E1"/>
                </a:solidFill>
                <a:latin typeface="Poppins" pitchFamily="34" charset="0"/>
                <a:ea typeface="Poppins" pitchFamily="34" charset="-122"/>
                <a:cs typeface="Poppins" pitchFamily="34" charset="-120"/>
              </a:rPr>
              <a:t>productos</a:t>
            </a:r>
            <a:r>
              <a:rPr lang="en-US" sz="750" dirty="0">
                <a:solidFill>
                  <a:srgbClr val="CBD5E1"/>
                </a:solidFill>
                <a:latin typeface="Poppins" pitchFamily="34" charset="0"/>
                <a:ea typeface="Poppins" pitchFamily="34" charset="-122"/>
                <a:cs typeface="Poppins" pitchFamily="34" charset="-120"/>
              </a:rPr>
              <a:t> 2026</a:t>
            </a:r>
            <a:endParaRPr lang="en-US" sz="750" dirty="0"/>
          </a:p>
        </p:txBody>
      </p:sp>
      <p:sp>
        <p:nvSpPr>
          <p:cNvPr id="14" name="Text 12"/>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Sección 02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ATH-VB-001</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Set Postes de Voleibol Profesional con Red</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Sistema completo con tensores, antenas y red oficial para uso escolar y federado</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Sistema de postes de voleibol en acero galvanizado con mecanismo de tensión por manivela. Los postes incluyen regulación de altura reglamentaria para damas (2.24 m) y varones (2.43 m). Base con sistema de empotramiento o platina de piso según instalación. Red de nylon con cable de acero inoxidable en su interior para máxima tensión y durabilidad.</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Altura regulable</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Cable acero inox</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Antenas incluidas</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Indoor/Outdoor</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Norma FIVB</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 regulable</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2.24 m (damas) / 2.43 m (varones)</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Material postes</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galvanizado 80x80 mm</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Sistema tensión</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Manivela con trinquete</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Red</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Nylon 3 mm con cable acero inox interior</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Ancho red</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9.50 m x 1.00 m</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Antenas</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Fibra de vidrio flexible incluidas</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Instalación</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Empotramiento o platina de piso</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Set incluye 2 postes, 1 red oficial y 2 antenas. Fundas de transporte opcionales.</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4 de 10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ATH-VB-002</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Set Postes de Voleibol Outdoor / Playa</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Resistente al ambiente exterior, ideal para canchas de arena y cemento al aire libre</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Diseñados específicamente para instalaciones al aire libre, estos postes cuentan con tratamiento especial anticorrosión y pintura resistente a los rayos UV. Sistema de anclaje con estacas de acero para canchas de arena o con platinas para cemento. La red incluye protección UV para mayor durabilidad en exterior durante todo el año.</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Resistente UV</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Anti-corrosión</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Dual anclaje</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100% outdoor</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Colores disponibles</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 regulable</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2.24 m / 2.43 m reglamentario</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Material postes</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inoxidable recubierto</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Tratamiento</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Anticorrosión + pintura UV</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Red</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Polipropileno UV-resistant 4 mm</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Anclaje</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Estacas arena + opción platina cemento</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28 kg (set completo)</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Colores</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Blanco o rojo/azul a elección</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Ideal para establecimientos con cancha al aire libre. No requiere instalación permanente.</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5 de 10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55321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88696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833872" y="4160520"/>
            <a:ext cx="1005840" cy="1005840"/>
          </a:xfrm>
          <a:prstGeom prst="ellipse">
            <a:avLst/>
          </a:prstGeom>
          <a:solidFill>
            <a:srgbClr val="F26A21"/>
          </a:solidFill>
          <a:ln w="12700">
            <a:solidFill>
              <a:srgbClr val="F26A21"/>
            </a:solidFill>
            <a:prstDash val="solid"/>
          </a:ln>
        </p:spPr>
        <p:txBody>
          <a:bodyPr/>
          <a:lstStyle/>
          <a:p>
            <a:endParaRPr lang="es-CL"/>
          </a:p>
        </p:txBody>
      </p:sp>
      <p:sp>
        <p:nvSpPr>
          <p:cNvPr id="6" name="Text 4"/>
          <p:cNvSpPr/>
          <p:nvPr/>
        </p:nvSpPr>
        <p:spPr>
          <a:xfrm>
            <a:off x="502920" y="4434840"/>
            <a:ext cx="1371600" cy="164592"/>
          </a:xfrm>
          <a:prstGeom prst="rect">
            <a:avLst/>
          </a:prstGeom>
          <a:noFill/>
          <a:ln/>
        </p:spPr>
        <p:txBody>
          <a:bodyPr wrap="square" lIns="0" tIns="0" rIns="0" bIns="0" rtlCol="0" anchor="ctr"/>
          <a:lstStyle/>
          <a:p>
            <a:pPr marL="0" indent="0">
              <a:buNone/>
            </a:pPr>
            <a:r>
              <a:rPr lang="en-US" sz="1000" b="1" dirty="0">
                <a:solidFill>
                  <a:srgbClr val="F26A21"/>
                </a:solidFill>
                <a:latin typeface="Poppins" pitchFamily="34" charset="0"/>
                <a:ea typeface="Poppins" pitchFamily="34" charset="-122"/>
                <a:cs typeface="Poppins" pitchFamily="34" charset="-120"/>
              </a:rPr>
              <a:t>SECCIÓN 03</a:t>
            </a:r>
            <a:endParaRPr lang="en-US" sz="1000" dirty="0"/>
          </a:p>
        </p:txBody>
      </p:sp>
      <p:sp>
        <p:nvSpPr>
          <p:cNvPr id="7" name="Text 5"/>
          <p:cNvSpPr/>
          <p:nvPr/>
        </p:nvSpPr>
        <p:spPr>
          <a:xfrm>
            <a:off x="502920" y="4709160"/>
            <a:ext cx="5257800" cy="640080"/>
          </a:xfrm>
          <a:prstGeom prst="rect">
            <a:avLst/>
          </a:prstGeom>
          <a:noFill/>
          <a:ln/>
        </p:spPr>
        <p:txBody>
          <a:bodyPr wrap="square" lIns="0" tIns="0" rIns="0" bIns="0" rtlCol="0" anchor="ctr">
            <a:noAutofit/>
          </a:bodyPr>
          <a:lstStyle/>
          <a:p>
            <a:pPr marL="0" indent="0">
              <a:buNone/>
            </a:pPr>
            <a:r>
              <a:rPr lang="en-US" sz="2800" b="1" dirty="0">
                <a:solidFill>
                  <a:srgbClr val="FFFFFF"/>
                </a:solidFill>
                <a:latin typeface="Montserrat" pitchFamily="34" charset="0"/>
                <a:ea typeface="Montserrat" pitchFamily="34" charset="-122"/>
                <a:cs typeface="Montserrat" pitchFamily="34" charset="-120"/>
              </a:rPr>
              <a:t>TORRES DE BÁSQUETBOL</a:t>
            </a:r>
            <a:endParaRPr lang="en-US" sz="2800" dirty="0"/>
          </a:p>
        </p:txBody>
      </p:sp>
      <p:sp>
        <p:nvSpPr>
          <p:cNvPr id="8" name="Text 6"/>
          <p:cNvSpPr/>
          <p:nvPr/>
        </p:nvSpPr>
        <p:spPr>
          <a:xfrm>
            <a:off x="502920" y="5715000"/>
            <a:ext cx="4023360" cy="201168"/>
          </a:xfrm>
          <a:prstGeom prst="rect">
            <a:avLst/>
          </a:prstGeom>
          <a:noFill/>
          <a:ln/>
        </p:spPr>
        <p:txBody>
          <a:bodyPr wrap="square" lIns="0" tIns="0" rIns="0" bIns="0" rtlCol="0" anchor="ctr"/>
          <a:lstStyle/>
          <a:p>
            <a:pPr marL="0" indent="0">
              <a:buNone/>
            </a:pPr>
            <a:r>
              <a:rPr lang="en-US" sz="1000" dirty="0">
                <a:solidFill>
                  <a:srgbClr val="A8B6CC"/>
                </a:solidFill>
                <a:latin typeface="Poppins" pitchFamily="34" charset="0"/>
                <a:ea typeface="Poppins" pitchFamily="34" charset="-122"/>
                <a:cs typeface="Poppins" pitchFamily="34" charset="-120"/>
              </a:rPr>
              <a:t>Tableros y estructuras para uso escolar y competitivo</a:t>
            </a:r>
            <a:endParaRPr lang="en-US" sz="1000" dirty="0"/>
          </a:p>
        </p:txBody>
      </p:sp>
      <p:sp>
        <p:nvSpPr>
          <p:cNvPr id="9" name="Shape 7"/>
          <p:cNvSpPr/>
          <p:nvPr/>
        </p:nvSpPr>
        <p:spPr>
          <a:xfrm>
            <a:off x="502920" y="6355080"/>
            <a:ext cx="1005840" cy="0"/>
          </a:xfrm>
          <a:prstGeom prst="line">
            <a:avLst/>
          </a:prstGeom>
          <a:noFill/>
          <a:ln w="12700">
            <a:solidFill>
              <a:srgbClr val="F26A21"/>
            </a:solidFill>
            <a:prstDash val="solid"/>
          </a:ln>
        </p:spPr>
        <p:txBody>
          <a:bodyPr/>
          <a:lstStyle/>
          <a:p>
            <a:endParaRPr lang="es-CL"/>
          </a:p>
        </p:txBody>
      </p:sp>
      <p:sp>
        <p:nvSpPr>
          <p:cNvPr id="10" name="Text 8"/>
          <p:cNvSpPr/>
          <p:nvPr/>
        </p:nvSpPr>
        <p:spPr>
          <a:xfrm>
            <a:off x="5212080" y="6812280"/>
            <a:ext cx="1005840" cy="457200"/>
          </a:xfrm>
          <a:prstGeom prst="rect">
            <a:avLst/>
          </a:prstGeom>
          <a:noFill/>
          <a:ln/>
        </p:spPr>
        <p:txBody>
          <a:bodyPr wrap="square" lIns="0" tIns="0" rIns="0" bIns="0" rtlCol="0" anchor="ctr"/>
          <a:lstStyle/>
          <a:p>
            <a:pPr marL="0" indent="0" algn="r">
              <a:buNone/>
            </a:pPr>
            <a:r>
              <a:rPr lang="en-US" sz="2100" b="1" dirty="0">
                <a:solidFill>
                  <a:srgbClr val="F26A21"/>
                </a:solidFill>
                <a:latin typeface="Montserrat" pitchFamily="34" charset="0"/>
                <a:ea typeface="Montserrat" pitchFamily="34" charset="-122"/>
                <a:cs typeface="Montserrat" pitchFamily="34" charset="-120"/>
              </a:rPr>
              <a:t>03</a:t>
            </a:r>
            <a:endParaRPr lang="en-US" sz="2100" dirty="0">
              <a:solidFill>
                <a:srgbClr val="F26A21"/>
              </a:solidFill>
            </a:endParaRPr>
          </a:p>
        </p:txBody>
      </p:sp>
      <p:sp>
        <p:nvSpPr>
          <p:cNvPr id="11" name="Text 9"/>
          <p:cNvSpPr/>
          <p:nvPr/>
        </p:nvSpPr>
        <p:spPr>
          <a:xfrm>
            <a:off x="5715000" y="2240280"/>
            <a:ext cx="914400" cy="594360"/>
          </a:xfrm>
          <a:prstGeom prst="rect">
            <a:avLst/>
          </a:prstGeom>
          <a:noFill/>
          <a:ln/>
        </p:spPr>
        <p:txBody>
          <a:bodyPr wrap="square" lIns="0" tIns="0" rIns="0" bIns="0" rtlCol="0" anchor="ctr"/>
          <a:lstStyle/>
          <a:p>
            <a:pPr marL="0" indent="0" algn="ctr">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Shape 10"/>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13" name="Text 11"/>
          <p:cNvSpPr/>
          <p:nvPr/>
        </p:nvSpPr>
        <p:spPr>
          <a:xfrm>
            <a:off x="502920" y="10323576"/>
            <a:ext cx="4389120" cy="128016"/>
          </a:xfrm>
          <a:prstGeom prst="rect">
            <a:avLst/>
          </a:prstGeom>
          <a:noFill/>
          <a:ln/>
        </p:spPr>
        <p:txBody>
          <a:bodyPr wrap="square" lIns="0" tIns="0" rIns="0" bIns="0" rtlCol="0" anchor="ctr"/>
          <a:lstStyle/>
          <a:p>
            <a:r>
              <a:rPr lang="en-US" sz="750" dirty="0">
                <a:solidFill>
                  <a:srgbClr val="CBD5E1"/>
                </a:solidFill>
                <a:latin typeface="Poppins" pitchFamily="34" charset="0"/>
                <a:ea typeface="Poppins" pitchFamily="34" charset="-122"/>
                <a:cs typeface="Poppins" pitchFamily="34" charset="-120"/>
              </a:rPr>
              <a:t>ATHLIX STORE </a:t>
            </a:r>
            <a:r>
              <a:rPr lang="en-US" sz="750" dirty="0" err="1">
                <a:solidFill>
                  <a:srgbClr val="CBD5E1"/>
                </a:solidFill>
                <a:latin typeface="Poppins" pitchFamily="34" charset="0"/>
                <a:ea typeface="Poppins" pitchFamily="34" charset="-122"/>
                <a:cs typeface="Poppins" pitchFamily="34" charset="-120"/>
              </a:rPr>
              <a:t>SpA</a:t>
            </a:r>
            <a:r>
              <a:rPr lang="en-US" sz="750" dirty="0">
                <a:solidFill>
                  <a:srgbClr val="CBD5E1"/>
                </a:solidFill>
                <a:latin typeface="Poppins" pitchFamily="34" charset="0"/>
                <a:ea typeface="Poppins" pitchFamily="34" charset="-122"/>
                <a:cs typeface="Poppins" pitchFamily="34" charset="-120"/>
              </a:rPr>
              <a:t> · </a:t>
            </a:r>
            <a:r>
              <a:rPr lang="en-US" sz="750" dirty="0" err="1">
                <a:solidFill>
                  <a:srgbClr val="CBD5E1"/>
                </a:solidFill>
                <a:latin typeface="Poppins" pitchFamily="34" charset="0"/>
                <a:ea typeface="Poppins" pitchFamily="34" charset="-122"/>
                <a:cs typeface="Poppins" pitchFamily="34" charset="-120"/>
              </a:rPr>
              <a:t>Catálogo</a:t>
            </a:r>
            <a:r>
              <a:rPr lang="en-US" sz="750" dirty="0">
                <a:solidFill>
                  <a:srgbClr val="CBD5E1"/>
                </a:solidFill>
                <a:latin typeface="Poppins" pitchFamily="34" charset="0"/>
                <a:ea typeface="Poppins" pitchFamily="34" charset="-122"/>
                <a:cs typeface="Poppins" pitchFamily="34" charset="-120"/>
              </a:rPr>
              <a:t> de </a:t>
            </a:r>
            <a:r>
              <a:rPr lang="en-US" sz="750" dirty="0" err="1">
                <a:solidFill>
                  <a:srgbClr val="CBD5E1"/>
                </a:solidFill>
                <a:latin typeface="Poppins" pitchFamily="34" charset="0"/>
                <a:ea typeface="Poppins" pitchFamily="34" charset="-122"/>
                <a:cs typeface="Poppins" pitchFamily="34" charset="-120"/>
              </a:rPr>
              <a:t>productos</a:t>
            </a:r>
            <a:r>
              <a:rPr lang="en-US" sz="750" dirty="0">
                <a:solidFill>
                  <a:srgbClr val="CBD5E1"/>
                </a:solidFill>
                <a:latin typeface="Poppins" pitchFamily="34" charset="0"/>
                <a:ea typeface="Poppins" pitchFamily="34" charset="-122"/>
                <a:cs typeface="Poppins" pitchFamily="34" charset="-120"/>
              </a:rPr>
              <a:t> 2026</a:t>
            </a:r>
            <a:endParaRPr lang="en-US" sz="750" dirty="0"/>
          </a:p>
        </p:txBody>
      </p:sp>
      <p:sp>
        <p:nvSpPr>
          <p:cNvPr id="14" name="Text 12"/>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Sección 03</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ATH-BK-001</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Torre de Básquetbol Fija con Empotramiento</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Estructura robusta para instalación definitiva en cancha escolar</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Torre de básquetbol con columna de acero de alta resistencia y brazo de proyección regulable. Tablero en metacrilato transparente de 10 mm con marco de protección de aluminio. Aro reglamentario con cadena cromada. La estructura se emplaza en fundación de hormigón para máxima estabilidad. Cumple normativa FIBA para uso en competencias escolares.</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FIBA reglamentario</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Tablero metacrilato</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Máxima estabilidad</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Cadena cromada</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5 años garantía</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 aro</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3.05 m reglamentario (FIBA)</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Tablero</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Metacrilato 10 mm, 1.83 m x 1.07 m</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Columna</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estructural 120x120 mm</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Brazo proyección</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1.20 m regulable</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Aro</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forjado 45 cm diámetro + cadena cromo</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Acabado</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Pintura epóxica naranja/blanca</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Instalación</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Fundación hormigón (no incluida)</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5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Precio unitario. Se recomienda instalar por pares. Servicio de instalación disponible.</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6 de 10</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ATH-BK-002</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Torre de Básquetbol Móvil con Contrapeso</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Sin obras, con ruedas y contrapeso de agua. Perfecta para gimnasios multideporte</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Solución ideal para establecimientos que no pueden realizar obras civiles. Base con ruedas de goma maciza y depósito de agua de 200 litros como contrapeso. El tablero de polietileno es resistente a impactos y no requiere mantenimiento. Altura regulable desde 2.60 m a 3.05 m para adaptarse a diferentes categorías y edades de alumnos.</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Sin obras civiles</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Altura regulable</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Fácil traslado</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Multi-categoría</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Seguro en niños</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 aro</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2.60 m a 3.05 m regulable</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Tablero</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Polietileno HD 12 mm, 1.20 m x 0.90 m</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Base</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con ruedas goma maciza</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Contrapeso</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Depósito agua 200 L (sin obras)</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Aro</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45 cm + red nylon</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 base vacía</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85 kg</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 base llena</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285 kg (con agua)</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 años estructura</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Incluye red de aro. Requiere suministro de agua para completar el contrapeso.</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7 de 10</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55321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88696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833872" y="4160520"/>
            <a:ext cx="1005840" cy="1005840"/>
          </a:xfrm>
          <a:prstGeom prst="ellipse">
            <a:avLst/>
          </a:prstGeom>
          <a:solidFill>
            <a:srgbClr val="F26A21"/>
          </a:solidFill>
          <a:ln w="12700">
            <a:solidFill>
              <a:srgbClr val="F26A21"/>
            </a:solidFill>
            <a:prstDash val="solid"/>
          </a:ln>
        </p:spPr>
        <p:txBody>
          <a:bodyPr/>
          <a:lstStyle/>
          <a:p>
            <a:endParaRPr lang="es-CL"/>
          </a:p>
        </p:txBody>
      </p:sp>
      <p:sp>
        <p:nvSpPr>
          <p:cNvPr id="6" name="Text 4"/>
          <p:cNvSpPr/>
          <p:nvPr/>
        </p:nvSpPr>
        <p:spPr>
          <a:xfrm>
            <a:off x="502920" y="4434840"/>
            <a:ext cx="1371600" cy="164592"/>
          </a:xfrm>
          <a:prstGeom prst="rect">
            <a:avLst/>
          </a:prstGeom>
          <a:noFill/>
          <a:ln/>
        </p:spPr>
        <p:txBody>
          <a:bodyPr wrap="square" lIns="0" tIns="0" rIns="0" bIns="0" rtlCol="0" anchor="ctr"/>
          <a:lstStyle/>
          <a:p>
            <a:pPr marL="0" indent="0">
              <a:buNone/>
            </a:pPr>
            <a:r>
              <a:rPr lang="en-US" sz="1200" b="1" dirty="0">
                <a:solidFill>
                  <a:srgbClr val="F26A21"/>
                </a:solidFill>
                <a:latin typeface="Poppins" pitchFamily="34" charset="0"/>
                <a:ea typeface="Poppins" pitchFamily="34" charset="-122"/>
                <a:cs typeface="Poppins" pitchFamily="34" charset="-120"/>
              </a:rPr>
              <a:t>SECCIÓN 04</a:t>
            </a:r>
            <a:endParaRPr lang="en-US" sz="1200" dirty="0"/>
          </a:p>
        </p:txBody>
      </p:sp>
      <p:sp>
        <p:nvSpPr>
          <p:cNvPr id="7" name="Text 5"/>
          <p:cNvSpPr/>
          <p:nvPr/>
        </p:nvSpPr>
        <p:spPr>
          <a:xfrm>
            <a:off x="502920" y="4937760"/>
            <a:ext cx="4389120" cy="411480"/>
          </a:xfrm>
          <a:prstGeom prst="rect">
            <a:avLst/>
          </a:prstGeom>
          <a:noFill/>
          <a:ln/>
        </p:spPr>
        <p:txBody>
          <a:bodyPr wrap="square" lIns="0" tIns="0" rIns="0" bIns="0" rtlCol="0" anchor="ctr">
            <a:noAutofit/>
          </a:bodyPr>
          <a:lstStyle/>
          <a:p>
            <a:pPr marL="0" indent="0">
              <a:buNone/>
            </a:pPr>
            <a:r>
              <a:rPr lang="en-US" sz="2800" b="1" dirty="0">
                <a:solidFill>
                  <a:srgbClr val="FFFFFF"/>
                </a:solidFill>
                <a:latin typeface="Montserrat" pitchFamily="34" charset="0"/>
                <a:ea typeface="Montserrat" pitchFamily="34" charset="-122"/>
                <a:cs typeface="Montserrat" pitchFamily="34" charset="-120"/>
              </a:rPr>
              <a:t>VALLAS DE ATLETISMO</a:t>
            </a:r>
            <a:endParaRPr lang="en-US" sz="2800" dirty="0"/>
          </a:p>
        </p:txBody>
      </p:sp>
      <p:sp>
        <p:nvSpPr>
          <p:cNvPr id="8" name="Text 6"/>
          <p:cNvSpPr/>
          <p:nvPr/>
        </p:nvSpPr>
        <p:spPr>
          <a:xfrm>
            <a:off x="502920" y="5715000"/>
            <a:ext cx="4023360" cy="201168"/>
          </a:xfrm>
          <a:prstGeom prst="rect">
            <a:avLst/>
          </a:prstGeom>
          <a:noFill/>
          <a:ln/>
        </p:spPr>
        <p:txBody>
          <a:bodyPr wrap="square" lIns="0" tIns="0" rIns="0" bIns="0" rtlCol="0" anchor="ctr"/>
          <a:lstStyle/>
          <a:p>
            <a:pPr marL="0" indent="0">
              <a:buNone/>
            </a:pPr>
            <a:r>
              <a:rPr lang="en-US" sz="1000" dirty="0">
                <a:solidFill>
                  <a:srgbClr val="A8B6CC"/>
                </a:solidFill>
                <a:latin typeface="Poppins" pitchFamily="34" charset="0"/>
                <a:ea typeface="Poppins" pitchFamily="34" charset="-122"/>
                <a:cs typeface="Poppins" pitchFamily="34" charset="-120"/>
              </a:rPr>
              <a:t>Vallas y obstáculos para pistas escolares</a:t>
            </a:r>
            <a:endParaRPr lang="en-US" sz="1000" dirty="0"/>
          </a:p>
        </p:txBody>
      </p:sp>
      <p:sp>
        <p:nvSpPr>
          <p:cNvPr id="9" name="Shape 7"/>
          <p:cNvSpPr/>
          <p:nvPr/>
        </p:nvSpPr>
        <p:spPr>
          <a:xfrm>
            <a:off x="502920" y="6355080"/>
            <a:ext cx="1005840" cy="0"/>
          </a:xfrm>
          <a:prstGeom prst="line">
            <a:avLst/>
          </a:prstGeom>
          <a:noFill/>
          <a:ln w="12700">
            <a:solidFill>
              <a:srgbClr val="F26A21"/>
            </a:solidFill>
            <a:prstDash val="solid"/>
          </a:ln>
        </p:spPr>
        <p:txBody>
          <a:bodyPr/>
          <a:lstStyle/>
          <a:p>
            <a:endParaRPr lang="es-CL"/>
          </a:p>
        </p:txBody>
      </p:sp>
      <p:sp>
        <p:nvSpPr>
          <p:cNvPr id="10" name="Text 8"/>
          <p:cNvSpPr/>
          <p:nvPr/>
        </p:nvSpPr>
        <p:spPr>
          <a:xfrm>
            <a:off x="5212080" y="6812280"/>
            <a:ext cx="1005840" cy="457200"/>
          </a:xfrm>
          <a:prstGeom prst="rect">
            <a:avLst/>
          </a:prstGeom>
          <a:noFill/>
          <a:ln/>
        </p:spPr>
        <p:txBody>
          <a:bodyPr wrap="square" lIns="0" tIns="0" rIns="0" bIns="0" rtlCol="0" anchor="ctr"/>
          <a:lstStyle/>
          <a:p>
            <a:pPr marL="0" indent="0" algn="r">
              <a:buNone/>
            </a:pPr>
            <a:r>
              <a:rPr lang="en-US" sz="2100" b="1" dirty="0">
                <a:solidFill>
                  <a:srgbClr val="F26A21"/>
                </a:solidFill>
                <a:latin typeface="Montserrat" pitchFamily="34" charset="0"/>
                <a:ea typeface="Montserrat" pitchFamily="34" charset="-122"/>
                <a:cs typeface="Montserrat" pitchFamily="34" charset="-120"/>
              </a:rPr>
              <a:t>04</a:t>
            </a:r>
            <a:endParaRPr lang="en-US" sz="2100" dirty="0">
              <a:solidFill>
                <a:srgbClr val="F26A21"/>
              </a:solidFill>
            </a:endParaRPr>
          </a:p>
        </p:txBody>
      </p:sp>
      <p:sp>
        <p:nvSpPr>
          <p:cNvPr id="11" name="Text 9"/>
          <p:cNvSpPr/>
          <p:nvPr/>
        </p:nvSpPr>
        <p:spPr>
          <a:xfrm>
            <a:off x="5429865" y="1818957"/>
            <a:ext cx="1654277" cy="1310638"/>
          </a:xfrm>
          <a:prstGeom prst="rect">
            <a:avLst/>
          </a:prstGeom>
          <a:noFill/>
          <a:ln/>
        </p:spPr>
        <p:txBody>
          <a:bodyPr wrap="square" lIns="0" tIns="0" rIns="0" bIns="0" rtlCol="0" anchor="ctr"/>
          <a:lstStyle/>
          <a:p>
            <a:pPr marL="0" indent="0" algn="ctr">
              <a:buNone/>
            </a:pPr>
            <a:r>
              <a:rPr lang="en-US" sz="4800" dirty="0">
                <a:solidFill>
                  <a:srgbClr val="000000"/>
                </a:solidFill>
                <a:latin typeface="Segoe UI Emoji" pitchFamily="34" charset="0"/>
                <a:ea typeface="Segoe UI Emoji" pitchFamily="34" charset="-122"/>
                <a:cs typeface="Segoe UI Emoji" pitchFamily="34" charset="-120"/>
              </a:rPr>
              <a:t>🏃</a:t>
            </a:r>
            <a:endParaRPr lang="en-US" sz="4800" dirty="0"/>
          </a:p>
        </p:txBody>
      </p:sp>
      <p:sp>
        <p:nvSpPr>
          <p:cNvPr id="12" name="Shape 10"/>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13" name="Text 11"/>
          <p:cNvSpPr/>
          <p:nvPr/>
        </p:nvSpPr>
        <p:spPr>
          <a:xfrm>
            <a:off x="502920" y="10323576"/>
            <a:ext cx="4389120" cy="128016"/>
          </a:xfrm>
          <a:prstGeom prst="rect">
            <a:avLst/>
          </a:prstGeom>
          <a:noFill/>
          <a:ln/>
        </p:spPr>
        <p:txBody>
          <a:bodyPr wrap="square" lIns="0" tIns="0" rIns="0" bIns="0" rtlCol="0" anchor="ctr"/>
          <a:lstStyle/>
          <a:p>
            <a:r>
              <a:rPr lang="en-US" sz="750" dirty="0">
                <a:solidFill>
                  <a:srgbClr val="CBD5E1"/>
                </a:solidFill>
                <a:latin typeface="Poppins" pitchFamily="34" charset="0"/>
                <a:ea typeface="Poppins" pitchFamily="34" charset="-122"/>
                <a:cs typeface="Poppins" pitchFamily="34" charset="-120"/>
              </a:rPr>
              <a:t>ATHLIX STORE </a:t>
            </a:r>
            <a:r>
              <a:rPr lang="en-US" sz="750" dirty="0" err="1">
                <a:solidFill>
                  <a:srgbClr val="CBD5E1"/>
                </a:solidFill>
                <a:latin typeface="Poppins" pitchFamily="34" charset="0"/>
                <a:ea typeface="Poppins" pitchFamily="34" charset="-122"/>
                <a:cs typeface="Poppins" pitchFamily="34" charset="-120"/>
              </a:rPr>
              <a:t>SpA</a:t>
            </a:r>
            <a:r>
              <a:rPr lang="en-US" sz="750" dirty="0">
                <a:solidFill>
                  <a:srgbClr val="CBD5E1"/>
                </a:solidFill>
                <a:latin typeface="Poppins" pitchFamily="34" charset="0"/>
                <a:ea typeface="Poppins" pitchFamily="34" charset="-122"/>
                <a:cs typeface="Poppins" pitchFamily="34" charset="-120"/>
              </a:rPr>
              <a:t> · </a:t>
            </a:r>
            <a:r>
              <a:rPr lang="en-US" sz="750" dirty="0" err="1">
                <a:solidFill>
                  <a:srgbClr val="CBD5E1"/>
                </a:solidFill>
                <a:latin typeface="Poppins" pitchFamily="34" charset="0"/>
                <a:ea typeface="Poppins" pitchFamily="34" charset="-122"/>
                <a:cs typeface="Poppins" pitchFamily="34" charset="-120"/>
              </a:rPr>
              <a:t>Catálogo</a:t>
            </a:r>
            <a:r>
              <a:rPr lang="en-US" sz="750" dirty="0">
                <a:solidFill>
                  <a:srgbClr val="CBD5E1"/>
                </a:solidFill>
                <a:latin typeface="Poppins" pitchFamily="34" charset="0"/>
                <a:ea typeface="Poppins" pitchFamily="34" charset="-122"/>
                <a:cs typeface="Poppins" pitchFamily="34" charset="-120"/>
              </a:rPr>
              <a:t> de </a:t>
            </a:r>
            <a:r>
              <a:rPr lang="en-US" sz="750" dirty="0" err="1">
                <a:solidFill>
                  <a:srgbClr val="CBD5E1"/>
                </a:solidFill>
                <a:latin typeface="Poppins" pitchFamily="34" charset="0"/>
                <a:ea typeface="Poppins" pitchFamily="34" charset="-122"/>
                <a:cs typeface="Poppins" pitchFamily="34" charset="-120"/>
              </a:rPr>
              <a:t>productos</a:t>
            </a:r>
            <a:r>
              <a:rPr lang="en-US" sz="750" dirty="0">
                <a:solidFill>
                  <a:srgbClr val="CBD5E1"/>
                </a:solidFill>
                <a:latin typeface="Poppins" pitchFamily="34" charset="0"/>
                <a:ea typeface="Poppins" pitchFamily="34" charset="-122"/>
                <a:cs typeface="Poppins" pitchFamily="34" charset="-120"/>
              </a:rPr>
              <a:t> 2026</a:t>
            </a:r>
            <a:endParaRPr lang="en-US" sz="750" dirty="0"/>
          </a:p>
        </p:txBody>
      </p:sp>
      <p:sp>
        <p:nvSpPr>
          <p:cNvPr id="14" name="Text 12"/>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Sección 04</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ATH-AT-001</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Set Vallas de Atletismo Reglamentarias</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Vallas de aluminio para competencias escolares y entrenamiento técnico</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Vallas de aluminio anodizado de alta durabilidad con tablero de contrachapado pintado en colores reglamentarios. Sistema de fácil ajuste de altura con pasador de seguridad. Base de acero lacado con pesos de contrapeso para estabilidad sin anclaje. Cumplen normativa World Athletics para competencias de nivel escolar y regional.</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Multi-altura</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World Athletics</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Sin anclaje</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Aluminio ligero</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Set 10 unidades</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Alturas reglamentarias</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84 cm / 91.4 cm / 99 cm / 106.7 cm</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Ancho valla</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1.18 m (reglamentario)</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Tablero</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Contrachapado 15 mm / aluminio anodizado</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Base</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Acero lacado con contrapesos</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 por valla</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10 kg (con contrapesos)</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Colores</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Blanco/Amarillo reglamentario</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Presentación</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Set de 10 vallas</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Garantía</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 años</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Precio por set de 10 vallas. Disponible set de 5 vallas para entrenamiento básico.</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pPr marL="0" indent="0">
              <a:buNone/>
            </a:pPr>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8 de 10</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r>
              <a:rPr lang="en-US" sz="900" b="1" dirty="0">
                <a:solidFill>
                  <a:srgbClr val="FFFFFF"/>
                </a:solidFill>
                <a:latin typeface="Montserrat" pitchFamily="34" charset="0"/>
                <a:ea typeface="Montserrat" pitchFamily="34" charset="-122"/>
                <a:cs typeface="Montserrat" pitchFamily="34" charset="-120"/>
              </a:rPr>
              <a:t>ATHLIX STORE </a:t>
            </a:r>
            <a:r>
              <a:rPr lang="en-US" sz="900" b="1" dirty="0" err="1">
                <a:solidFill>
                  <a:srgbClr val="FFFFFF"/>
                </a:solidFill>
                <a:latin typeface="Montserrat" pitchFamily="34" charset="0"/>
                <a:ea typeface="Montserrat" pitchFamily="34" charset="-122"/>
                <a:cs typeface="Montserrat" pitchFamily="34" charset="-120"/>
              </a:rPr>
              <a:t>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261872"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ATH-AT-002</a:t>
            </a:r>
            <a:endParaRPr lang="en-US" sz="850" dirty="0"/>
          </a:p>
        </p:txBody>
      </p:sp>
      <p:sp>
        <p:nvSpPr>
          <p:cNvPr id="8" name="Text 6"/>
          <p:cNvSpPr/>
          <p:nvPr/>
        </p:nvSpPr>
        <p:spPr>
          <a:xfrm>
            <a:off x="1874520"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480560" cy="438912"/>
          </a:xfrm>
          <a:prstGeom prst="rect">
            <a:avLst/>
          </a:prstGeom>
          <a:noFill/>
          <a:ln/>
        </p:spPr>
        <p:txBody>
          <a:bodyPr wrap="square" lIns="0" tIns="0" rIns="0" bIns="0" rtlCol="0" anchor="ctr">
            <a:normAutofit fontScale="92500"/>
          </a:bodyPr>
          <a:lstStyle/>
          <a:p>
            <a:pPr marL="0" indent="0">
              <a:buNone/>
            </a:pPr>
            <a:r>
              <a:rPr lang="en-US" sz="1800" b="1" dirty="0">
                <a:solidFill>
                  <a:srgbClr val="0B1F3A"/>
                </a:solidFill>
                <a:latin typeface="Montserrat" pitchFamily="34" charset="0"/>
                <a:ea typeface="Montserrat" pitchFamily="34" charset="-122"/>
                <a:cs typeface="Montserrat" pitchFamily="34" charset="-120"/>
              </a:rPr>
              <a:t>Vallas de Atletismo Infantil / Iniciación</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normAutofit/>
          </a:bodyPr>
          <a:lstStyle/>
          <a:p>
            <a:pPr marL="0" indent="0">
              <a:buNone/>
            </a:pPr>
            <a:r>
              <a:rPr lang="en-US" sz="890" dirty="0">
                <a:solidFill>
                  <a:srgbClr val="6B6560"/>
                </a:solidFill>
                <a:latin typeface="Poppins" pitchFamily="34" charset="0"/>
                <a:ea typeface="Poppins" pitchFamily="34" charset="-122"/>
                <a:cs typeface="Poppins" pitchFamily="34" charset="-120"/>
              </a:rPr>
              <a:t>Especiales para niños de educación básica. Livianas, seguras y coloridas</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61288" y="2240280"/>
            <a:ext cx="1005840" cy="594360"/>
          </a:xfrm>
          <a:prstGeom prst="rect">
            <a:avLst/>
          </a:prstGeom>
          <a:noFill/>
          <a:ln/>
        </p:spPr>
        <p:txBody>
          <a:bodyPr wrap="square" lIns="0" tIns="0" rIns="0" bIns="0" rtlCol="0" anchor="ctr"/>
          <a:lstStyle/>
          <a:p>
            <a:pPr marL="0" indent="0" algn="ctr">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13" name="Text 11"/>
          <p:cNvSpPr/>
          <p:nvPr/>
        </p:nvSpPr>
        <p:spPr>
          <a:xfrm>
            <a:off x="704088" y="3154680"/>
            <a:ext cx="1920240" cy="292608"/>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AGREGAR FOTOGRAFÍA DEL PRODUCTO</a:t>
            </a:r>
            <a:endParaRPr lang="en-US" sz="900" dirty="0"/>
          </a:p>
        </p:txBody>
      </p:sp>
      <p:sp>
        <p:nvSpPr>
          <p:cNvPr id="14" name="Text 12"/>
          <p:cNvSpPr/>
          <p:nvPr/>
        </p:nvSpPr>
        <p:spPr>
          <a:xfrm>
            <a:off x="667512" y="3657600"/>
            <a:ext cx="1993392" cy="320040"/>
          </a:xfrm>
          <a:prstGeom prst="rect">
            <a:avLst/>
          </a:prstGeom>
          <a:noFill/>
          <a:ln/>
        </p:spPr>
        <p:txBody>
          <a:bodyPr wrap="square" lIns="0" tIns="0" rIns="0" bIns="0" rtlCol="0" anchor="ctr">
            <a:normAutofit/>
          </a:bodyPr>
          <a:lstStyle/>
          <a:p>
            <a:pPr marL="0" indent="0" algn="ctr">
              <a:buNone/>
            </a:pPr>
            <a:r>
              <a:rPr lang="en-US" sz="780" dirty="0">
                <a:solidFill>
                  <a:srgbClr val="6B6560"/>
                </a:solidFill>
                <a:latin typeface="Poppins" pitchFamily="34" charset="0"/>
                <a:ea typeface="Poppins" pitchFamily="34" charset="-122"/>
                <a:cs typeface="Poppins" pitchFamily="34" charset="-120"/>
              </a:rPr>
              <a:t>Puedes reemplazar este recuadro por una imagen real.</a:t>
            </a:r>
            <a:endParaRPr lang="en-US" sz="780" dirty="0"/>
          </a:p>
        </p:txBody>
      </p:sp>
      <p:sp>
        <p:nvSpPr>
          <p:cNvPr id="15" name="Text 13"/>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6" name="Text 14"/>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Vallas especialmente diseñadas para el segmento infantil y de iniciación al atletismo. Fabricadas en PVC de alta resistencia con bordes redondeados para máxima seguridad. Sistema de derribo suave: al contacto el tablero cede lateralmente sin riesgo de caída. Incluye bolsa de transporte con ruedas para fácil almacenamiento en el establecimiento.</a:t>
            </a:r>
            <a:endParaRPr lang="en-US" sz="885" dirty="0"/>
          </a:p>
        </p:txBody>
      </p:sp>
      <p:sp>
        <p:nvSpPr>
          <p:cNvPr id="17" name="Text 15"/>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8" name="Text 16"/>
          <p:cNvSpPr/>
          <p:nvPr/>
        </p:nvSpPr>
        <p:spPr>
          <a:xfrm>
            <a:off x="315468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100% segura</a:t>
            </a:r>
            <a:endParaRPr lang="en-US" sz="770" dirty="0"/>
          </a:p>
        </p:txBody>
      </p:sp>
      <p:sp>
        <p:nvSpPr>
          <p:cNvPr id="19" name="Text 17"/>
          <p:cNvSpPr/>
          <p:nvPr/>
        </p:nvSpPr>
        <p:spPr>
          <a:xfrm>
            <a:off x="4114800" y="4151376"/>
            <a:ext cx="96012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Para básica</a:t>
            </a:r>
            <a:endParaRPr lang="en-US" sz="770" dirty="0"/>
          </a:p>
        </p:txBody>
      </p:sp>
      <p:sp>
        <p:nvSpPr>
          <p:cNvPr id="20" name="Text 18"/>
          <p:cNvSpPr/>
          <p:nvPr/>
        </p:nvSpPr>
        <p:spPr>
          <a:xfrm>
            <a:off x="5166360" y="4151376"/>
            <a:ext cx="86868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PVC resistente</a:t>
            </a:r>
            <a:endParaRPr lang="en-US" sz="770" dirty="0"/>
          </a:p>
        </p:txBody>
      </p:sp>
      <p:sp>
        <p:nvSpPr>
          <p:cNvPr id="21" name="Text 19"/>
          <p:cNvSpPr/>
          <p:nvPr/>
        </p:nvSpPr>
        <p:spPr>
          <a:xfrm>
            <a:off x="3154680" y="4572000"/>
            <a:ext cx="100584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70" b="1" dirty="0">
                <a:solidFill>
                  <a:srgbClr val="0B1F3A"/>
                </a:solidFill>
                <a:latin typeface="Poppins" pitchFamily="34" charset="0"/>
                <a:ea typeface="Poppins" pitchFamily="34" charset="-122"/>
                <a:cs typeface="Poppins" pitchFamily="34" charset="-120"/>
              </a:rPr>
              <a:t>Colores vivos</a:t>
            </a:r>
            <a:endParaRPr lang="en-US" sz="770" dirty="0"/>
          </a:p>
        </p:txBody>
      </p:sp>
      <p:sp>
        <p:nvSpPr>
          <p:cNvPr id="22" name="Text 20"/>
          <p:cNvSpPr/>
          <p:nvPr/>
        </p:nvSpPr>
        <p:spPr>
          <a:xfrm>
            <a:off x="4251960" y="4572000"/>
            <a:ext cx="96012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70" b="1" dirty="0">
                <a:solidFill>
                  <a:srgbClr val="F26A21"/>
                </a:solidFill>
                <a:latin typeface="Poppins" pitchFamily="34" charset="0"/>
                <a:ea typeface="Poppins" pitchFamily="34" charset="-122"/>
                <a:cs typeface="Poppins" pitchFamily="34" charset="-120"/>
              </a:rPr>
              <a:t>Bolsa incluida</a:t>
            </a:r>
            <a:endParaRPr lang="en-US" sz="770" dirty="0"/>
          </a:p>
        </p:txBody>
      </p:sp>
      <p:sp>
        <p:nvSpPr>
          <p:cNvPr id="23" name="Text 21"/>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4" name="Text 22"/>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Alturas disponibles</a:t>
            </a:r>
            <a:endParaRPr lang="en-US" sz="810" dirty="0"/>
          </a:p>
        </p:txBody>
      </p:sp>
      <p:sp>
        <p:nvSpPr>
          <p:cNvPr id="25" name="Text 23"/>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30 cm / 45 cm / 60 cm / 76 cm</a:t>
            </a:r>
            <a:endParaRPr lang="en-US" sz="810" dirty="0"/>
          </a:p>
        </p:txBody>
      </p:sp>
      <p:sp>
        <p:nvSpPr>
          <p:cNvPr id="26" name="Text 24"/>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Ancho valla</a:t>
            </a:r>
            <a:endParaRPr lang="en-US" sz="810" dirty="0"/>
          </a:p>
        </p:txBody>
      </p:sp>
      <p:sp>
        <p:nvSpPr>
          <p:cNvPr id="27" name="Text 25"/>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1.00 m</a:t>
            </a:r>
            <a:endParaRPr lang="en-US" sz="810" dirty="0"/>
          </a:p>
        </p:txBody>
      </p:sp>
      <p:sp>
        <p:nvSpPr>
          <p:cNvPr id="28" name="Text 26"/>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Material</a:t>
            </a:r>
            <a:endParaRPr lang="en-US" sz="810" dirty="0"/>
          </a:p>
        </p:txBody>
      </p:sp>
      <p:sp>
        <p:nvSpPr>
          <p:cNvPr id="29" name="Text 27"/>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PVC alta resistencia, bordes redondeados</a:t>
            </a:r>
            <a:endParaRPr lang="en-US" sz="810" dirty="0"/>
          </a:p>
        </p:txBody>
      </p:sp>
      <p:sp>
        <p:nvSpPr>
          <p:cNvPr id="30" name="Text 28"/>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Sistema seguridad</a:t>
            </a:r>
            <a:endParaRPr lang="en-US" sz="810" dirty="0"/>
          </a:p>
        </p:txBody>
      </p:sp>
      <p:sp>
        <p:nvSpPr>
          <p:cNvPr id="31" name="Text 29"/>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Derribo lateral suave</a:t>
            </a:r>
            <a:endParaRPr lang="en-US" sz="810" dirty="0"/>
          </a:p>
        </p:txBody>
      </p:sp>
      <p:sp>
        <p:nvSpPr>
          <p:cNvPr id="32" name="Text 30"/>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Base</a:t>
            </a:r>
            <a:endParaRPr lang="en-US" sz="810" dirty="0"/>
          </a:p>
        </p:txBody>
      </p:sp>
      <p:sp>
        <p:nvSpPr>
          <p:cNvPr id="33" name="Text 31"/>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PVC con lastres de arena</a:t>
            </a:r>
            <a:endParaRPr lang="en-US" sz="810" dirty="0"/>
          </a:p>
        </p:txBody>
      </p:sp>
      <p:sp>
        <p:nvSpPr>
          <p:cNvPr id="34" name="Text 32"/>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Peso por valla</a:t>
            </a:r>
            <a:endParaRPr lang="en-US" sz="810" dirty="0"/>
          </a:p>
        </p:txBody>
      </p:sp>
      <p:sp>
        <p:nvSpPr>
          <p:cNvPr id="35" name="Text 33"/>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2.5 kg</a:t>
            </a:r>
            <a:endParaRPr lang="en-US" sz="810" dirty="0"/>
          </a:p>
        </p:txBody>
      </p:sp>
      <p:sp>
        <p:nvSpPr>
          <p:cNvPr id="36" name="Text 34"/>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Colores</a:t>
            </a:r>
            <a:endParaRPr lang="en-US" sz="810" dirty="0"/>
          </a:p>
        </p:txBody>
      </p:sp>
      <p:sp>
        <p:nvSpPr>
          <p:cNvPr id="37" name="Text 35"/>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Rojo, Azul, Amarillo, Verde</a:t>
            </a:r>
            <a:endParaRPr lang="en-US" sz="810" dirty="0"/>
          </a:p>
        </p:txBody>
      </p:sp>
      <p:sp>
        <p:nvSpPr>
          <p:cNvPr id="38" name="Text 36"/>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normAutofit/>
          </a:bodyPr>
          <a:lstStyle/>
          <a:p>
            <a:pPr marL="0" indent="0">
              <a:buNone/>
            </a:pPr>
            <a:r>
              <a:rPr lang="en-US" sz="810" b="1" dirty="0">
                <a:solidFill>
                  <a:srgbClr val="1A1A1A"/>
                </a:solidFill>
                <a:latin typeface="Poppins" pitchFamily="34" charset="0"/>
                <a:ea typeface="Poppins" pitchFamily="34" charset="-122"/>
                <a:cs typeface="Poppins" pitchFamily="34" charset="-120"/>
              </a:rPr>
              <a:t>Presentación</a:t>
            </a:r>
            <a:endParaRPr lang="en-US" sz="810" dirty="0"/>
          </a:p>
        </p:txBody>
      </p:sp>
      <p:sp>
        <p:nvSpPr>
          <p:cNvPr id="39" name="Text 37"/>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normAutofit/>
          </a:bodyPr>
          <a:lstStyle/>
          <a:p>
            <a:pPr marL="0" indent="0">
              <a:buNone/>
            </a:pPr>
            <a:r>
              <a:rPr lang="en-US" sz="810" dirty="0">
                <a:solidFill>
                  <a:srgbClr val="6B6560"/>
                </a:solidFill>
                <a:latin typeface="Poppins" pitchFamily="34" charset="0"/>
                <a:ea typeface="Poppins" pitchFamily="34" charset="-122"/>
                <a:cs typeface="Poppins" pitchFamily="34" charset="-120"/>
              </a:rPr>
              <a:t>Set de 6 vallas + bolsa transporte</a:t>
            </a:r>
            <a:endParaRPr lang="en-US" sz="810" dirty="0"/>
          </a:p>
        </p:txBody>
      </p:sp>
      <p:sp>
        <p:nvSpPr>
          <p:cNvPr id="40" name="Text 38"/>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normAutofit/>
          </a:bodyPr>
          <a:lstStyle/>
          <a:p>
            <a:pPr marL="0" indent="0">
              <a:buNone/>
            </a:pPr>
            <a:r>
              <a:rPr lang="en-US" sz="810" i="1" dirty="0">
                <a:solidFill>
                  <a:srgbClr val="6B6560"/>
                </a:solidFill>
                <a:latin typeface="Poppins" pitchFamily="34" charset="0"/>
                <a:ea typeface="Poppins" pitchFamily="34" charset="-122"/>
                <a:cs typeface="Poppins" pitchFamily="34" charset="-120"/>
              </a:rPr>
              <a:t>Nota: Recomendada para alumnos de 1° a 6° básico. Cumple normas de seguridad escolar.</a:t>
            </a:r>
            <a:endParaRPr lang="en-US" sz="810" dirty="0"/>
          </a:p>
        </p:txBody>
      </p:sp>
      <p:sp>
        <p:nvSpPr>
          <p:cNvPr id="41" name="Text 39"/>
          <p:cNvSpPr/>
          <p:nvPr/>
        </p:nvSpPr>
        <p:spPr>
          <a:xfrm>
            <a:off x="502920" y="10122408"/>
            <a:ext cx="4480560" cy="164592"/>
          </a:xfrm>
          <a:prstGeom prst="rect">
            <a:avLst/>
          </a:prstGeom>
          <a:noFill/>
          <a:ln/>
        </p:spPr>
        <p:txBody>
          <a:bodyPr wrap="square" lIns="0" tIns="0" rIns="0" bIns="0" rtlCol="0" anchor="ctr"/>
          <a:lstStyle/>
          <a:p>
            <a:pPr marL="0" indent="0">
              <a:buNone/>
            </a:pPr>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athlixstore@gmail.com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42" name="Text 4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9 de 10</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pPr marL="0" indent="0">
              <a:buNone/>
            </a:pPr>
            <a:r>
              <a:rPr lang="en-US" sz="900" b="1" dirty="0">
                <a:solidFill>
                  <a:srgbClr val="FFFFFF"/>
                </a:solidFill>
                <a:latin typeface="Montserrat" pitchFamily="34" charset="0"/>
                <a:ea typeface="Montserrat" pitchFamily="34" charset="-122"/>
                <a:cs typeface="Montserrat" pitchFamily="34" charset="-120"/>
              </a:rPr>
              <a:t>ATHLIX STORE 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algn="r"/>
            <a:r>
              <a:rPr lang="en-US" sz="800" b="1" dirty="0">
                <a:solidFill>
                  <a:srgbClr val="F26A21"/>
                </a:solidFill>
                <a:latin typeface="Poppins" pitchFamily="34" charset="0"/>
                <a:ea typeface="Poppins" pitchFamily="34" charset="-122"/>
                <a:cs typeface="Poppins" pitchFamily="34" charset="-120"/>
              </a:rPr>
              <a:t>CATÁLOGO DE PRODUCTO 2026</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804672"/>
            <a:ext cx="4297680" cy="274320"/>
          </a:xfrm>
          <a:prstGeom prst="rect">
            <a:avLst/>
          </a:prstGeom>
          <a:noFill/>
          <a:ln/>
        </p:spPr>
        <p:txBody>
          <a:bodyPr wrap="square" lIns="0" tIns="0" rIns="0" bIns="0" rtlCol="0" anchor="ctr"/>
          <a:lstStyle/>
          <a:p>
            <a:pPr marL="0" indent="0">
              <a:buNone/>
            </a:pPr>
            <a:r>
              <a:rPr lang="en-US" sz="1700" b="1" dirty="0">
                <a:solidFill>
                  <a:srgbClr val="0B1F3A"/>
                </a:solidFill>
                <a:latin typeface="Montserrat" pitchFamily="34" charset="0"/>
                <a:ea typeface="Montserrat" pitchFamily="34" charset="-122"/>
                <a:cs typeface="Montserrat" pitchFamily="34" charset="-120"/>
              </a:rPr>
              <a:t>TABLA DE PRECIOS REFERENCIALES</a:t>
            </a:r>
            <a:endParaRPr lang="en-US" sz="1700" dirty="0"/>
          </a:p>
        </p:txBody>
      </p:sp>
      <p:sp>
        <p:nvSpPr>
          <p:cNvPr id="8" name="Text 6"/>
          <p:cNvSpPr/>
          <p:nvPr/>
        </p:nvSpPr>
        <p:spPr>
          <a:xfrm>
            <a:off x="4251960" y="1152144"/>
            <a:ext cx="2240280" cy="164592"/>
          </a:xfrm>
          <a:prstGeom prst="rect">
            <a:avLst/>
          </a:prstGeom>
          <a:noFill/>
          <a:ln/>
        </p:spPr>
        <p:txBody>
          <a:bodyPr wrap="square" lIns="0" tIns="0" rIns="0" bIns="0" rtlCol="0" anchor="ctr"/>
          <a:lstStyle/>
          <a:p>
            <a:pPr marL="0" indent="0" algn="r">
              <a:buNone/>
            </a:pPr>
            <a:r>
              <a:rPr lang="en-US" sz="850" b="1" dirty="0" err="1">
                <a:solidFill>
                  <a:srgbClr val="F26A21"/>
                </a:solidFill>
                <a:latin typeface="Poppins" pitchFamily="34" charset="0"/>
                <a:ea typeface="Poppins" pitchFamily="34" charset="-122"/>
                <a:cs typeface="Poppins" pitchFamily="34" charset="-120"/>
              </a:rPr>
              <a:t>Vigente</a:t>
            </a:r>
            <a:r>
              <a:rPr lang="en-US" sz="850" b="1" dirty="0">
                <a:solidFill>
                  <a:srgbClr val="F26A21"/>
                </a:solidFill>
                <a:latin typeface="Poppins" pitchFamily="34" charset="0"/>
                <a:ea typeface="Poppins" pitchFamily="34" charset="-122"/>
                <a:cs typeface="Poppins" pitchFamily="34" charset="-120"/>
              </a:rPr>
              <a:t> 2026 · Precios en CLP neto + IVA</a:t>
            </a:r>
            <a:endParaRPr lang="en-US" sz="850" dirty="0"/>
          </a:p>
        </p:txBody>
      </p:sp>
      <p:sp>
        <p:nvSpPr>
          <p:cNvPr id="9" name="Text 7"/>
          <p:cNvSpPr/>
          <p:nvPr/>
        </p:nvSpPr>
        <p:spPr>
          <a:xfrm>
            <a:off x="502920" y="1417320"/>
            <a:ext cx="987552" cy="384048"/>
          </a:xfrm>
          <a:prstGeom prst="rect">
            <a:avLst/>
          </a:prstGeom>
          <a:solidFill>
            <a:srgbClr val="0B1F3A"/>
          </a:solidFill>
          <a:ln>
            <a:solidFill>
              <a:srgbClr val="E5E0D8"/>
            </a:solidFill>
          </a:ln>
        </p:spPr>
        <p:txBody>
          <a:bodyPr wrap="square" lIns="635" tIns="635" rIns="635" bIns="635" rtlCol="0" anchor="ctr">
            <a:normAutofit/>
          </a:bodyPr>
          <a:lstStyle/>
          <a:p>
            <a:pPr marL="0" indent="0" algn="ctr">
              <a:buNone/>
            </a:pPr>
            <a:r>
              <a:rPr lang="en-US" sz="780" b="1" dirty="0">
                <a:solidFill>
                  <a:srgbClr val="FFFFFF"/>
                </a:solidFill>
                <a:latin typeface="Poppins" pitchFamily="34" charset="0"/>
                <a:ea typeface="Poppins" pitchFamily="34" charset="-122"/>
                <a:cs typeface="Poppins" pitchFamily="34" charset="-120"/>
              </a:rPr>
              <a:t>Código</a:t>
            </a:r>
            <a:endParaRPr lang="en-US" sz="780" dirty="0"/>
          </a:p>
        </p:txBody>
      </p:sp>
      <p:sp>
        <p:nvSpPr>
          <p:cNvPr id="10" name="Text 8"/>
          <p:cNvSpPr/>
          <p:nvPr/>
        </p:nvSpPr>
        <p:spPr>
          <a:xfrm>
            <a:off x="1490472" y="1417320"/>
            <a:ext cx="2834640" cy="384048"/>
          </a:xfrm>
          <a:prstGeom prst="rect">
            <a:avLst/>
          </a:prstGeom>
          <a:solidFill>
            <a:srgbClr val="0B1F3A"/>
          </a:solidFill>
          <a:ln>
            <a:solidFill>
              <a:srgbClr val="E5E0D8"/>
            </a:solidFill>
          </a:ln>
        </p:spPr>
        <p:txBody>
          <a:bodyPr wrap="square" lIns="635" tIns="635" rIns="635" bIns="635" rtlCol="0" anchor="ctr">
            <a:normAutofit/>
          </a:bodyPr>
          <a:lstStyle/>
          <a:p>
            <a:pPr marL="0" indent="0" algn="ctr">
              <a:buNone/>
            </a:pPr>
            <a:r>
              <a:rPr lang="en-US" sz="780" b="1" dirty="0">
                <a:solidFill>
                  <a:srgbClr val="FFFFFF"/>
                </a:solidFill>
                <a:latin typeface="Poppins" pitchFamily="34" charset="0"/>
                <a:ea typeface="Poppins" pitchFamily="34" charset="-122"/>
                <a:cs typeface="Poppins" pitchFamily="34" charset="-120"/>
              </a:rPr>
              <a:t>Producto</a:t>
            </a:r>
            <a:endParaRPr lang="en-US" sz="780" dirty="0"/>
          </a:p>
        </p:txBody>
      </p:sp>
      <p:sp>
        <p:nvSpPr>
          <p:cNvPr id="11" name="Text 9"/>
          <p:cNvSpPr/>
          <p:nvPr/>
        </p:nvSpPr>
        <p:spPr>
          <a:xfrm>
            <a:off x="4325112" y="1417320"/>
            <a:ext cx="731520" cy="384048"/>
          </a:xfrm>
          <a:prstGeom prst="rect">
            <a:avLst/>
          </a:prstGeom>
          <a:solidFill>
            <a:srgbClr val="0B1F3A"/>
          </a:solidFill>
          <a:ln>
            <a:solidFill>
              <a:srgbClr val="E5E0D8"/>
            </a:solidFill>
          </a:ln>
        </p:spPr>
        <p:txBody>
          <a:bodyPr wrap="square" lIns="635" tIns="635" rIns="635" bIns="635" rtlCol="0" anchor="ctr">
            <a:normAutofit/>
          </a:bodyPr>
          <a:lstStyle/>
          <a:p>
            <a:pPr marL="0" indent="0" algn="ctr">
              <a:buNone/>
            </a:pPr>
            <a:r>
              <a:rPr lang="en-US" sz="780" b="1" dirty="0">
                <a:solidFill>
                  <a:srgbClr val="FFFFFF"/>
                </a:solidFill>
                <a:latin typeface="Poppins" pitchFamily="34" charset="0"/>
                <a:ea typeface="Poppins" pitchFamily="34" charset="-122"/>
                <a:cs typeface="Poppins" pitchFamily="34" charset="-120"/>
              </a:rPr>
              <a:t>Unidad</a:t>
            </a:r>
            <a:endParaRPr lang="en-US" sz="780" dirty="0"/>
          </a:p>
        </p:txBody>
      </p:sp>
      <p:sp>
        <p:nvSpPr>
          <p:cNvPr id="12" name="Text 10"/>
          <p:cNvSpPr/>
          <p:nvPr/>
        </p:nvSpPr>
        <p:spPr>
          <a:xfrm>
            <a:off x="5056632" y="1417320"/>
            <a:ext cx="914400" cy="384048"/>
          </a:xfrm>
          <a:prstGeom prst="rect">
            <a:avLst/>
          </a:prstGeom>
          <a:solidFill>
            <a:srgbClr val="0B1F3A"/>
          </a:solidFill>
          <a:ln>
            <a:solidFill>
              <a:srgbClr val="E5E0D8"/>
            </a:solidFill>
          </a:ln>
        </p:spPr>
        <p:txBody>
          <a:bodyPr wrap="square" lIns="635" tIns="635" rIns="635" bIns="635" rtlCol="0" anchor="ctr">
            <a:normAutofit/>
          </a:bodyPr>
          <a:lstStyle/>
          <a:p>
            <a:pPr marL="0" indent="0" algn="ctr">
              <a:buNone/>
            </a:pPr>
            <a:r>
              <a:rPr lang="en-US" sz="780" b="1" dirty="0">
                <a:solidFill>
                  <a:srgbClr val="FFFFFF"/>
                </a:solidFill>
                <a:latin typeface="Poppins" pitchFamily="34" charset="0"/>
                <a:ea typeface="Poppins" pitchFamily="34" charset="-122"/>
                <a:cs typeface="Poppins" pitchFamily="34" charset="-120"/>
              </a:rPr>
              <a:t>Precio ref.</a:t>
            </a:r>
            <a:endParaRPr lang="en-US" sz="780" dirty="0"/>
          </a:p>
        </p:txBody>
      </p:sp>
      <p:sp>
        <p:nvSpPr>
          <p:cNvPr id="13" name="Text 11"/>
          <p:cNvSpPr/>
          <p:nvPr/>
        </p:nvSpPr>
        <p:spPr>
          <a:xfrm>
            <a:off x="5971032" y="1417320"/>
            <a:ext cx="1069848" cy="384048"/>
          </a:xfrm>
          <a:prstGeom prst="rect">
            <a:avLst/>
          </a:prstGeom>
          <a:solidFill>
            <a:srgbClr val="0B1F3A"/>
          </a:solidFill>
          <a:ln>
            <a:solidFill>
              <a:srgbClr val="E5E0D8"/>
            </a:solidFill>
          </a:ln>
        </p:spPr>
        <p:txBody>
          <a:bodyPr wrap="square" lIns="635" tIns="635" rIns="635" bIns="635" rtlCol="0" anchor="ctr">
            <a:normAutofit/>
          </a:bodyPr>
          <a:lstStyle/>
          <a:p>
            <a:pPr marL="0" indent="0" algn="ctr">
              <a:buNone/>
            </a:pPr>
            <a:r>
              <a:rPr lang="en-US" sz="780" b="1" dirty="0">
                <a:solidFill>
                  <a:srgbClr val="FFFFFF"/>
                </a:solidFill>
                <a:latin typeface="Poppins" pitchFamily="34" charset="0"/>
                <a:ea typeface="Poppins" pitchFamily="34" charset="-122"/>
                <a:cs typeface="Poppins" pitchFamily="34" charset="-120"/>
              </a:rPr>
              <a:t>Dto. volumen</a:t>
            </a:r>
            <a:endParaRPr lang="en-US" sz="780" dirty="0"/>
          </a:p>
        </p:txBody>
      </p:sp>
      <p:sp>
        <p:nvSpPr>
          <p:cNvPr id="14" name="Text 12"/>
          <p:cNvSpPr/>
          <p:nvPr/>
        </p:nvSpPr>
        <p:spPr>
          <a:xfrm>
            <a:off x="502920" y="1801368"/>
            <a:ext cx="987552"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ATH-AF-001</a:t>
            </a:r>
            <a:endParaRPr lang="en-US" sz="750" dirty="0"/>
          </a:p>
        </p:txBody>
      </p:sp>
      <p:sp>
        <p:nvSpPr>
          <p:cNvPr id="15" name="Text 13"/>
          <p:cNvSpPr/>
          <p:nvPr/>
        </p:nvSpPr>
        <p:spPr>
          <a:xfrm>
            <a:off x="1490472" y="1801368"/>
            <a:ext cx="283464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Arco Fútbol Oficial Reglamentario 7.32x2.44</a:t>
            </a:r>
            <a:endParaRPr lang="en-US" sz="760" dirty="0"/>
          </a:p>
        </p:txBody>
      </p:sp>
      <p:sp>
        <p:nvSpPr>
          <p:cNvPr id="16" name="Text 14"/>
          <p:cNvSpPr/>
          <p:nvPr/>
        </p:nvSpPr>
        <p:spPr>
          <a:xfrm>
            <a:off x="4325112" y="1801368"/>
            <a:ext cx="73152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Par</a:t>
            </a:r>
            <a:endParaRPr lang="en-US" sz="750" dirty="0"/>
          </a:p>
        </p:txBody>
      </p:sp>
      <p:sp>
        <p:nvSpPr>
          <p:cNvPr id="17" name="Text 15"/>
          <p:cNvSpPr/>
          <p:nvPr/>
        </p:nvSpPr>
        <p:spPr>
          <a:xfrm>
            <a:off x="5056632" y="1801368"/>
            <a:ext cx="91440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18" name="Text 16"/>
          <p:cNvSpPr/>
          <p:nvPr/>
        </p:nvSpPr>
        <p:spPr>
          <a:xfrm>
            <a:off x="5971032" y="1801368"/>
            <a:ext cx="1069848"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5% desde 2 sets</a:t>
            </a:r>
            <a:endParaRPr lang="en-US" sz="750" dirty="0"/>
          </a:p>
        </p:txBody>
      </p:sp>
      <p:sp>
        <p:nvSpPr>
          <p:cNvPr id="19" name="Text 17"/>
          <p:cNvSpPr/>
          <p:nvPr/>
        </p:nvSpPr>
        <p:spPr>
          <a:xfrm>
            <a:off x="502920" y="2203704"/>
            <a:ext cx="987552"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ATH-AF-002</a:t>
            </a:r>
            <a:endParaRPr lang="en-US" sz="750" dirty="0"/>
          </a:p>
        </p:txBody>
      </p:sp>
      <p:sp>
        <p:nvSpPr>
          <p:cNvPr id="20" name="Text 18"/>
          <p:cNvSpPr/>
          <p:nvPr/>
        </p:nvSpPr>
        <p:spPr>
          <a:xfrm>
            <a:off x="1490472" y="2203704"/>
            <a:ext cx="283464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Arco Fútbol 7 / Futbolito 5.00x2.00 m</a:t>
            </a:r>
            <a:endParaRPr lang="en-US" sz="760" dirty="0"/>
          </a:p>
        </p:txBody>
      </p:sp>
      <p:sp>
        <p:nvSpPr>
          <p:cNvPr id="21" name="Text 19"/>
          <p:cNvSpPr/>
          <p:nvPr/>
        </p:nvSpPr>
        <p:spPr>
          <a:xfrm>
            <a:off x="4325112" y="2203704"/>
            <a:ext cx="73152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Par</a:t>
            </a:r>
            <a:endParaRPr lang="en-US" sz="750" dirty="0"/>
          </a:p>
        </p:txBody>
      </p:sp>
      <p:sp>
        <p:nvSpPr>
          <p:cNvPr id="22" name="Text 20"/>
          <p:cNvSpPr/>
          <p:nvPr/>
        </p:nvSpPr>
        <p:spPr>
          <a:xfrm>
            <a:off x="5056632" y="2203704"/>
            <a:ext cx="91440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23" name="Text 21"/>
          <p:cNvSpPr/>
          <p:nvPr/>
        </p:nvSpPr>
        <p:spPr>
          <a:xfrm>
            <a:off x="5971032" y="2203704"/>
            <a:ext cx="1069848"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5% desde 2 sets</a:t>
            </a:r>
            <a:endParaRPr lang="en-US" sz="750" dirty="0"/>
          </a:p>
        </p:txBody>
      </p:sp>
      <p:sp>
        <p:nvSpPr>
          <p:cNvPr id="24" name="Text 22"/>
          <p:cNvSpPr/>
          <p:nvPr/>
        </p:nvSpPr>
        <p:spPr>
          <a:xfrm>
            <a:off x="502920" y="2606040"/>
            <a:ext cx="987552"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ATH-VB-001</a:t>
            </a:r>
            <a:endParaRPr lang="en-US" sz="750" dirty="0"/>
          </a:p>
        </p:txBody>
      </p:sp>
      <p:sp>
        <p:nvSpPr>
          <p:cNvPr id="25" name="Text 23"/>
          <p:cNvSpPr/>
          <p:nvPr/>
        </p:nvSpPr>
        <p:spPr>
          <a:xfrm>
            <a:off x="1490472" y="2606040"/>
            <a:ext cx="283464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Set Postes Voleibol Profesional + Red</a:t>
            </a:r>
            <a:endParaRPr lang="en-US" sz="760" dirty="0"/>
          </a:p>
        </p:txBody>
      </p:sp>
      <p:sp>
        <p:nvSpPr>
          <p:cNvPr id="26" name="Text 24"/>
          <p:cNvSpPr/>
          <p:nvPr/>
        </p:nvSpPr>
        <p:spPr>
          <a:xfrm>
            <a:off x="4325112" y="2606040"/>
            <a:ext cx="73152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Set</a:t>
            </a:r>
            <a:endParaRPr lang="en-US" sz="750" dirty="0"/>
          </a:p>
        </p:txBody>
      </p:sp>
      <p:sp>
        <p:nvSpPr>
          <p:cNvPr id="27" name="Text 25"/>
          <p:cNvSpPr/>
          <p:nvPr/>
        </p:nvSpPr>
        <p:spPr>
          <a:xfrm>
            <a:off x="5056632" y="2606040"/>
            <a:ext cx="91440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28" name="Text 26"/>
          <p:cNvSpPr/>
          <p:nvPr/>
        </p:nvSpPr>
        <p:spPr>
          <a:xfrm>
            <a:off x="5971032" y="2606040"/>
            <a:ext cx="1069848"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5% desde 2 sets</a:t>
            </a:r>
            <a:endParaRPr lang="en-US" sz="750" dirty="0"/>
          </a:p>
        </p:txBody>
      </p:sp>
      <p:sp>
        <p:nvSpPr>
          <p:cNvPr id="29" name="Text 27"/>
          <p:cNvSpPr/>
          <p:nvPr/>
        </p:nvSpPr>
        <p:spPr>
          <a:xfrm>
            <a:off x="502920" y="3008376"/>
            <a:ext cx="987552"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ATH-VB-002</a:t>
            </a:r>
            <a:endParaRPr lang="en-US" sz="750" dirty="0"/>
          </a:p>
        </p:txBody>
      </p:sp>
      <p:sp>
        <p:nvSpPr>
          <p:cNvPr id="30" name="Text 28"/>
          <p:cNvSpPr/>
          <p:nvPr/>
        </p:nvSpPr>
        <p:spPr>
          <a:xfrm>
            <a:off x="1490472" y="3008376"/>
            <a:ext cx="283464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Set Postes Voleibol Outdoor / Playa + Red</a:t>
            </a:r>
            <a:endParaRPr lang="en-US" sz="760" dirty="0"/>
          </a:p>
        </p:txBody>
      </p:sp>
      <p:sp>
        <p:nvSpPr>
          <p:cNvPr id="31" name="Text 29"/>
          <p:cNvSpPr/>
          <p:nvPr/>
        </p:nvSpPr>
        <p:spPr>
          <a:xfrm>
            <a:off x="4325112" y="3008376"/>
            <a:ext cx="73152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Set</a:t>
            </a:r>
            <a:endParaRPr lang="en-US" sz="750" dirty="0"/>
          </a:p>
        </p:txBody>
      </p:sp>
      <p:sp>
        <p:nvSpPr>
          <p:cNvPr id="32" name="Text 30"/>
          <p:cNvSpPr/>
          <p:nvPr/>
        </p:nvSpPr>
        <p:spPr>
          <a:xfrm>
            <a:off x="5056632" y="3008376"/>
            <a:ext cx="91440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33" name="Text 31"/>
          <p:cNvSpPr/>
          <p:nvPr/>
        </p:nvSpPr>
        <p:spPr>
          <a:xfrm>
            <a:off x="5971032" y="3008376"/>
            <a:ext cx="1069848"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5% desde 2 sets</a:t>
            </a:r>
            <a:endParaRPr lang="en-US" sz="750" dirty="0"/>
          </a:p>
        </p:txBody>
      </p:sp>
      <p:sp>
        <p:nvSpPr>
          <p:cNvPr id="34" name="Text 32"/>
          <p:cNvSpPr/>
          <p:nvPr/>
        </p:nvSpPr>
        <p:spPr>
          <a:xfrm>
            <a:off x="502920" y="3410712"/>
            <a:ext cx="987552"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ATH-BK-001</a:t>
            </a:r>
            <a:endParaRPr lang="en-US" sz="750" dirty="0"/>
          </a:p>
        </p:txBody>
      </p:sp>
      <p:sp>
        <p:nvSpPr>
          <p:cNvPr id="35" name="Text 33"/>
          <p:cNvSpPr/>
          <p:nvPr/>
        </p:nvSpPr>
        <p:spPr>
          <a:xfrm>
            <a:off x="1490472" y="3410712"/>
            <a:ext cx="283464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Torre Básquetbol Fija Empotramiento</a:t>
            </a:r>
            <a:endParaRPr lang="en-US" sz="760" dirty="0"/>
          </a:p>
        </p:txBody>
      </p:sp>
      <p:sp>
        <p:nvSpPr>
          <p:cNvPr id="36" name="Text 34"/>
          <p:cNvSpPr/>
          <p:nvPr/>
        </p:nvSpPr>
        <p:spPr>
          <a:xfrm>
            <a:off x="4325112" y="3410712"/>
            <a:ext cx="73152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Unidad</a:t>
            </a:r>
            <a:endParaRPr lang="en-US" sz="750" dirty="0"/>
          </a:p>
        </p:txBody>
      </p:sp>
      <p:sp>
        <p:nvSpPr>
          <p:cNvPr id="37" name="Text 35"/>
          <p:cNvSpPr/>
          <p:nvPr/>
        </p:nvSpPr>
        <p:spPr>
          <a:xfrm>
            <a:off x="5056632" y="3410712"/>
            <a:ext cx="91440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38" name="Text 36"/>
          <p:cNvSpPr/>
          <p:nvPr/>
        </p:nvSpPr>
        <p:spPr>
          <a:xfrm>
            <a:off x="5971032" y="3410712"/>
            <a:ext cx="1069848"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8% desde 4 unid.</a:t>
            </a:r>
            <a:endParaRPr lang="en-US" sz="750" dirty="0"/>
          </a:p>
        </p:txBody>
      </p:sp>
      <p:sp>
        <p:nvSpPr>
          <p:cNvPr id="39" name="Text 37"/>
          <p:cNvSpPr/>
          <p:nvPr/>
        </p:nvSpPr>
        <p:spPr>
          <a:xfrm>
            <a:off x="502920" y="3813048"/>
            <a:ext cx="987552"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ATH-BK-002</a:t>
            </a:r>
            <a:endParaRPr lang="en-US" sz="750" dirty="0"/>
          </a:p>
        </p:txBody>
      </p:sp>
      <p:sp>
        <p:nvSpPr>
          <p:cNvPr id="40" name="Text 38"/>
          <p:cNvSpPr/>
          <p:nvPr/>
        </p:nvSpPr>
        <p:spPr>
          <a:xfrm>
            <a:off x="1490472" y="3813048"/>
            <a:ext cx="283464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Torre Básquetbol Móvil con Contrapeso</a:t>
            </a:r>
            <a:endParaRPr lang="en-US" sz="760" dirty="0"/>
          </a:p>
        </p:txBody>
      </p:sp>
      <p:sp>
        <p:nvSpPr>
          <p:cNvPr id="41" name="Text 39"/>
          <p:cNvSpPr/>
          <p:nvPr/>
        </p:nvSpPr>
        <p:spPr>
          <a:xfrm>
            <a:off x="4325112" y="3813048"/>
            <a:ext cx="73152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Unidad</a:t>
            </a:r>
            <a:endParaRPr lang="en-US" sz="750" dirty="0"/>
          </a:p>
        </p:txBody>
      </p:sp>
      <p:sp>
        <p:nvSpPr>
          <p:cNvPr id="42" name="Text 40"/>
          <p:cNvSpPr/>
          <p:nvPr/>
        </p:nvSpPr>
        <p:spPr>
          <a:xfrm>
            <a:off x="5056632" y="3813048"/>
            <a:ext cx="91440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43" name="Text 41"/>
          <p:cNvSpPr/>
          <p:nvPr/>
        </p:nvSpPr>
        <p:spPr>
          <a:xfrm>
            <a:off x="5971032" y="3813048"/>
            <a:ext cx="1069848"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8% desde 4 unid.</a:t>
            </a:r>
            <a:endParaRPr lang="en-US" sz="750" dirty="0"/>
          </a:p>
        </p:txBody>
      </p:sp>
      <p:sp>
        <p:nvSpPr>
          <p:cNvPr id="44" name="Text 42"/>
          <p:cNvSpPr/>
          <p:nvPr/>
        </p:nvSpPr>
        <p:spPr>
          <a:xfrm>
            <a:off x="502920" y="4215384"/>
            <a:ext cx="987552"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ATH-AT-001</a:t>
            </a:r>
            <a:endParaRPr lang="en-US" sz="750" dirty="0"/>
          </a:p>
        </p:txBody>
      </p:sp>
      <p:sp>
        <p:nvSpPr>
          <p:cNvPr id="45" name="Text 43"/>
          <p:cNvSpPr/>
          <p:nvPr/>
        </p:nvSpPr>
        <p:spPr>
          <a:xfrm>
            <a:off x="1490472" y="4215384"/>
            <a:ext cx="283464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Set Vallas Atletismo Reglamentarias (x10)</a:t>
            </a:r>
            <a:endParaRPr lang="en-US" sz="760" dirty="0"/>
          </a:p>
        </p:txBody>
      </p:sp>
      <p:sp>
        <p:nvSpPr>
          <p:cNvPr id="46" name="Text 44"/>
          <p:cNvSpPr/>
          <p:nvPr/>
        </p:nvSpPr>
        <p:spPr>
          <a:xfrm>
            <a:off x="4325112" y="4215384"/>
            <a:ext cx="73152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Set</a:t>
            </a:r>
            <a:endParaRPr lang="en-US" sz="750" dirty="0"/>
          </a:p>
        </p:txBody>
      </p:sp>
      <p:sp>
        <p:nvSpPr>
          <p:cNvPr id="47" name="Text 45"/>
          <p:cNvSpPr/>
          <p:nvPr/>
        </p:nvSpPr>
        <p:spPr>
          <a:xfrm>
            <a:off x="5056632" y="4215384"/>
            <a:ext cx="914400"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48" name="Text 46"/>
          <p:cNvSpPr/>
          <p:nvPr/>
        </p:nvSpPr>
        <p:spPr>
          <a:xfrm>
            <a:off x="5971032" y="4215384"/>
            <a:ext cx="1069848" cy="402336"/>
          </a:xfrm>
          <a:prstGeom prst="rect">
            <a:avLst/>
          </a:prstGeom>
          <a:solidFill>
            <a:srgbClr val="FFFFFF"/>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10% desde 2 sets</a:t>
            </a:r>
            <a:endParaRPr lang="en-US" sz="750" dirty="0"/>
          </a:p>
        </p:txBody>
      </p:sp>
      <p:sp>
        <p:nvSpPr>
          <p:cNvPr id="49" name="Text 47"/>
          <p:cNvSpPr/>
          <p:nvPr/>
        </p:nvSpPr>
        <p:spPr>
          <a:xfrm>
            <a:off x="502920" y="4617720"/>
            <a:ext cx="987552"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b="1" dirty="0">
                <a:solidFill>
                  <a:srgbClr val="6B6560"/>
                </a:solidFill>
                <a:latin typeface="Poppins" pitchFamily="34" charset="0"/>
                <a:ea typeface="Poppins" pitchFamily="34" charset="-122"/>
                <a:cs typeface="Poppins" pitchFamily="34" charset="-120"/>
              </a:rPr>
              <a:t>ATH-AT-002</a:t>
            </a:r>
            <a:endParaRPr lang="en-US" sz="750" dirty="0"/>
          </a:p>
        </p:txBody>
      </p:sp>
      <p:sp>
        <p:nvSpPr>
          <p:cNvPr id="50" name="Text 48"/>
          <p:cNvSpPr/>
          <p:nvPr/>
        </p:nvSpPr>
        <p:spPr>
          <a:xfrm>
            <a:off x="1490472" y="4617720"/>
            <a:ext cx="283464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l">
              <a:buNone/>
            </a:pPr>
            <a:r>
              <a:rPr lang="en-US" sz="760" dirty="0">
                <a:solidFill>
                  <a:srgbClr val="6B6560"/>
                </a:solidFill>
                <a:latin typeface="Poppins" pitchFamily="34" charset="0"/>
                <a:ea typeface="Poppins" pitchFamily="34" charset="-122"/>
                <a:cs typeface="Poppins" pitchFamily="34" charset="-120"/>
              </a:rPr>
              <a:t>Set Vallas Atletismo Infantil (x6) + bolsa</a:t>
            </a:r>
            <a:endParaRPr lang="en-US" sz="760" dirty="0"/>
          </a:p>
        </p:txBody>
      </p:sp>
      <p:sp>
        <p:nvSpPr>
          <p:cNvPr id="51" name="Text 49"/>
          <p:cNvSpPr/>
          <p:nvPr/>
        </p:nvSpPr>
        <p:spPr>
          <a:xfrm>
            <a:off x="4325112" y="4617720"/>
            <a:ext cx="73152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Set</a:t>
            </a:r>
            <a:endParaRPr lang="en-US" sz="750" dirty="0"/>
          </a:p>
        </p:txBody>
      </p:sp>
      <p:sp>
        <p:nvSpPr>
          <p:cNvPr id="52" name="Text 50"/>
          <p:cNvSpPr/>
          <p:nvPr/>
        </p:nvSpPr>
        <p:spPr>
          <a:xfrm>
            <a:off x="5056632" y="4617720"/>
            <a:ext cx="914400"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A consultar</a:t>
            </a:r>
            <a:endParaRPr lang="en-US" sz="750" dirty="0"/>
          </a:p>
        </p:txBody>
      </p:sp>
      <p:sp>
        <p:nvSpPr>
          <p:cNvPr id="53" name="Text 51"/>
          <p:cNvSpPr/>
          <p:nvPr/>
        </p:nvSpPr>
        <p:spPr>
          <a:xfrm>
            <a:off x="5971032" y="4617720"/>
            <a:ext cx="1069848" cy="402336"/>
          </a:xfrm>
          <a:prstGeom prst="rect">
            <a:avLst/>
          </a:prstGeom>
          <a:solidFill>
            <a:srgbClr val="FCFBF9"/>
          </a:solidFill>
          <a:ln>
            <a:solidFill>
              <a:srgbClr val="E5E0D8"/>
            </a:solidFill>
          </a:ln>
        </p:spPr>
        <p:txBody>
          <a:bodyPr wrap="square" lIns="635" tIns="635" rIns="635" bIns="635" rtlCol="0" anchor="ctr">
            <a:normAutofit/>
          </a:bodyPr>
          <a:lstStyle/>
          <a:p>
            <a:pPr marL="0" indent="0" algn="ctr">
              <a:buNone/>
            </a:pPr>
            <a:r>
              <a:rPr lang="en-US" sz="750" dirty="0">
                <a:solidFill>
                  <a:srgbClr val="6B6560"/>
                </a:solidFill>
                <a:latin typeface="Poppins" pitchFamily="34" charset="0"/>
                <a:ea typeface="Poppins" pitchFamily="34" charset="-122"/>
                <a:cs typeface="Poppins" pitchFamily="34" charset="-120"/>
              </a:rPr>
              <a:t>10% desde 2 sets</a:t>
            </a:r>
            <a:endParaRPr lang="en-US" sz="750" dirty="0"/>
          </a:p>
        </p:txBody>
      </p:sp>
      <p:sp>
        <p:nvSpPr>
          <p:cNvPr id="54" name="Text 52"/>
          <p:cNvSpPr/>
          <p:nvPr/>
        </p:nvSpPr>
        <p:spPr>
          <a:xfrm>
            <a:off x="502920" y="5120640"/>
            <a:ext cx="2971800" cy="1828800"/>
          </a:xfrm>
          <a:prstGeom prst="rect">
            <a:avLst/>
          </a:prstGeom>
          <a:solidFill>
            <a:srgbClr val="FFF0E8"/>
          </a:solidFill>
          <a:ln>
            <a:solidFill>
              <a:srgbClr val="F26A21"/>
            </a:solidFill>
          </a:ln>
        </p:spPr>
        <p:txBody>
          <a:bodyPr wrap="square" lIns="2286" tIns="2286" rIns="2286" bIns="2286" rtlCol="0" anchor="ctr">
            <a:normAutofit/>
          </a:bodyPr>
          <a:lstStyle/>
          <a:p>
            <a:pPr marL="0" indent="0">
              <a:buNone/>
            </a:pP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Descuentos</a:t>
            </a:r>
            <a:r>
              <a:rPr lang="en-US" sz="860" dirty="0">
                <a:solidFill>
                  <a:srgbClr val="6B6560"/>
                </a:solidFill>
                <a:latin typeface="Poppins" pitchFamily="34" charset="0"/>
                <a:ea typeface="Poppins" pitchFamily="34" charset="-122"/>
                <a:cs typeface="Poppins" pitchFamily="34" charset="-120"/>
              </a:rPr>
              <a:t> por volumen</a:t>
            </a:r>
            <a:endParaRPr lang="en-US" sz="860" dirty="0"/>
          </a:p>
          <a:p>
            <a:pPr marL="0" indent="0">
              <a:buNone/>
            </a:pP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5% </a:t>
            </a:r>
            <a:r>
              <a:rPr lang="en-US" sz="860" dirty="0" err="1">
                <a:solidFill>
                  <a:srgbClr val="6B6560"/>
                </a:solidFill>
                <a:latin typeface="Poppins" pitchFamily="34" charset="0"/>
                <a:ea typeface="Poppins" pitchFamily="34" charset="-122"/>
                <a:cs typeface="Poppins" pitchFamily="34" charset="-120"/>
              </a:rPr>
              <a:t>automático</a:t>
            </a: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según</a:t>
            </a: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categoría</a:t>
            </a: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2% </a:t>
            </a:r>
            <a:r>
              <a:rPr lang="en-US" sz="860" dirty="0" err="1">
                <a:solidFill>
                  <a:srgbClr val="6B6560"/>
                </a:solidFill>
                <a:latin typeface="Poppins" pitchFamily="34" charset="0"/>
                <a:ea typeface="Poppins" pitchFamily="34" charset="-122"/>
                <a:cs typeface="Poppins" pitchFamily="34" charset="-120"/>
              </a:rPr>
              <a:t>adicional</a:t>
            </a: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pago</a:t>
            </a:r>
            <a:r>
              <a:rPr lang="en-US" sz="860" dirty="0">
                <a:solidFill>
                  <a:srgbClr val="6B6560"/>
                </a:solidFill>
                <a:latin typeface="Poppins" pitchFamily="34" charset="0"/>
                <a:ea typeface="Poppins" pitchFamily="34" charset="-122"/>
                <a:cs typeface="Poppins" pitchFamily="34" charset="-120"/>
              </a:rPr>
              <a:t> al </a:t>
            </a:r>
            <a:r>
              <a:rPr lang="en-US" sz="860" dirty="0" err="1">
                <a:solidFill>
                  <a:srgbClr val="6B6560"/>
                </a:solidFill>
                <a:latin typeface="Poppins" pitchFamily="34" charset="0"/>
                <a:ea typeface="Poppins" pitchFamily="34" charset="-122"/>
                <a:cs typeface="Poppins" pitchFamily="34" charset="-120"/>
              </a:rPr>
              <a:t>contado</a:t>
            </a: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a:t>
            </a:r>
            <a:r>
              <a:rPr lang="en-US" sz="860" dirty="0" err="1">
                <a:solidFill>
                  <a:srgbClr val="6B6560"/>
                </a:solidFill>
                <a:latin typeface="Poppins" pitchFamily="34" charset="0"/>
                <a:ea typeface="Poppins" pitchFamily="34" charset="-122"/>
                <a:cs typeface="Poppins" pitchFamily="34" charset="-120"/>
              </a:rPr>
              <a:t>Precios</a:t>
            </a: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especiales</a:t>
            </a: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licitaciones</a:t>
            </a:r>
            <a:endParaRPr lang="en-US" sz="860" dirty="0"/>
          </a:p>
        </p:txBody>
      </p:sp>
      <p:sp>
        <p:nvSpPr>
          <p:cNvPr id="55" name="Text 53"/>
          <p:cNvSpPr/>
          <p:nvPr/>
        </p:nvSpPr>
        <p:spPr>
          <a:xfrm>
            <a:off x="3675888" y="5120640"/>
            <a:ext cx="2971800" cy="1828800"/>
          </a:xfrm>
          <a:prstGeom prst="rect">
            <a:avLst/>
          </a:prstGeom>
          <a:solidFill>
            <a:srgbClr val="FFFFFF"/>
          </a:solidFill>
          <a:ln>
            <a:solidFill>
              <a:srgbClr val="E5E0D8"/>
            </a:solidFill>
          </a:ln>
        </p:spPr>
        <p:txBody>
          <a:bodyPr wrap="square" lIns="2286" tIns="2286" rIns="2286" bIns="2286" rtlCol="0" anchor="ctr">
            <a:normAutofit/>
          </a:bodyPr>
          <a:lstStyle/>
          <a:p>
            <a:pPr marL="0" indent="0">
              <a:buNone/>
            </a:pPr>
            <a:r>
              <a:rPr lang="en-US" sz="860" dirty="0">
                <a:solidFill>
                  <a:srgbClr val="6B6560"/>
                </a:solidFill>
                <a:latin typeface="Poppins" pitchFamily="34" charset="0"/>
                <a:ea typeface="Poppins" pitchFamily="34" charset="-122"/>
                <a:cs typeface="Poppins" pitchFamily="34" charset="-120"/>
              </a:rPr>
              <a:t>      </a:t>
            </a:r>
            <a:r>
              <a:rPr lang="en-US" sz="860" dirty="0" err="1">
                <a:solidFill>
                  <a:srgbClr val="6B6560"/>
                </a:solidFill>
                <a:latin typeface="Poppins" pitchFamily="34" charset="0"/>
                <a:ea typeface="Poppins" pitchFamily="34" charset="-122"/>
                <a:cs typeface="Poppins" pitchFamily="34" charset="-120"/>
              </a:rPr>
              <a:t>Condiciones</a:t>
            </a:r>
            <a:r>
              <a:rPr lang="en-US" sz="860" dirty="0">
                <a:solidFill>
                  <a:srgbClr val="6B6560"/>
                </a:solidFill>
                <a:latin typeface="Poppins" pitchFamily="34" charset="0"/>
                <a:ea typeface="Poppins" pitchFamily="34" charset="-122"/>
                <a:cs typeface="Poppins" pitchFamily="34" charset="-120"/>
              </a:rPr>
              <a:t> comerciales</a:t>
            </a:r>
            <a:endParaRPr lang="en-US" sz="860" dirty="0"/>
          </a:p>
          <a:p>
            <a:pPr marL="0" indent="0">
              <a:buNone/>
            </a:pP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Precios CLP neto + IVA (19%)</a:t>
            </a: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Validez cotización: 15 días</a:t>
            </a:r>
            <a:endParaRPr lang="en-US" sz="860" dirty="0"/>
          </a:p>
          <a:p>
            <a:pPr marL="0" indent="0">
              <a:buNone/>
            </a:pPr>
            <a:r>
              <a:rPr lang="en-US" sz="860" dirty="0">
                <a:solidFill>
                  <a:srgbClr val="6B6560"/>
                </a:solidFill>
                <a:latin typeface="Poppins" pitchFamily="34" charset="0"/>
                <a:ea typeface="Poppins" pitchFamily="34" charset="-122"/>
                <a:cs typeface="Poppins" pitchFamily="34" charset="-120"/>
              </a:rPr>
              <a:t>      • Despacho coordinado a todo Chile</a:t>
            </a:r>
            <a:endParaRPr lang="en-US" sz="860" dirty="0"/>
          </a:p>
        </p:txBody>
      </p:sp>
      <p:sp>
        <p:nvSpPr>
          <p:cNvPr id="56" name="Text 54"/>
          <p:cNvSpPr/>
          <p:nvPr/>
        </p:nvSpPr>
        <p:spPr>
          <a:xfrm>
            <a:off x="667512" y="5321808"/>
            <a:ext cx="2560320" cy="201168"/>
          </a:xfrm>
          <a:prstGeom prst="rect">
            <a:avLst/>
          </a:prstGeom>
          <a:noFill/>
          <a:ln/>
        </p:spPr>
        <p:txBody>
          <a:bodyPr wrap="square" lIns="0" tIns="0" rIns="0" bIns="0" rtlCol="0" anchor="ctr"/>
          <a:lstStyle/>
          <a:p>
            <a:pPr marL="0" indent="0">
              <a:buNone/>
            </a:pPr>
            <a:r>
              <a:rPr lang="en-US" sz="1130" b="1" dirty="0">
                <a:solidFill>
                  <a:srgbClr val="0B1F3A"/>
                </a:solidFill>
                <a:latin typeface="Montserrat" pitchFamily="34" charset="0"/>
                <a:ea typeface="Montserrat" pitchFamily="34" charset="-122"/>
                <a:cs typeface="Montserrat" pitchFamily="34" charset="-120"/>
              </a:rPr>
              <a:t>Descuentos por volumen</a:t>
            </a:r>
            <a:endParaRPr lang="en-US" sz="1130" dirty="0"/>
          </a:p>
        </p:txBody>
      </p:sp>
      <p:sp>
        <p:nvSpPr>
          <p:cNvPr id="57" name="Text 55"/>
          <p:cNvSpPr/>
          <p:nvPr/>
        </p:nvSpPr>
        <p:spPr>
          <a:xfrm>
            <a:off x="3840480" y="5321808"/>
            <a:ext cx="2560320" cy="201168"/>
          </a:xfrm>
          <a:prstGeom prst="rect">
            <a:avLst/>
          </a:prstGeom>
          <a:noFill/>
          <a:ln/>
        </p:spPr>
        <p:txBody>
          <a:bodyPr wrap="square" lIns="0" tIns="0" rIns="0" bIns="0" rtlCol="0" anchor="ctr"/>
          <a:lstStyle/>
          <a:p>
            <a:pPr marL="0" indent="0">
              <a:buNone/>
            </a:pPr>
            <a:r>
              <a:rPr lang="en-US" sz="1130" b="1" dirty="0">
                <a:solidFill>
                  <a:srgbClr val="0B1F3A"/>
                </a:solidFill>
                <a:latin typeface="Montserrat" pitchFamily="34" charset="0"/>
                <a:ea typeface="Montserrat" pitchFamily="34" charset="-122"/>
                <a:cs typeface="Montserrat" pitchFamily="34" charset="-120"/>
              </a:rPr>
              <a:t>Condiciones comerciales</a:t>
            </a:r>
            <a:endParaRPr lang="en-US" sz="1130" dirty="0"/>
          </a:p>
        </p:txBody>
      </p:sp>
      <p:sp>
        <p:nvSpPr>
          <p:cNvPr id="58" name="Text 56"/>
          <p:cNvSpPr/>
          <p:nvPr/>
        </p:nvSpPr>
        <p:spPr>
          <a:xfrm>
            <a:off x="502920" y="7333488"/>
            <a:ext cx="4709160" cy="1115568"/>
          </a:xfrm>
          <a:prstGeom prst="rect">
            <a:avLst/>
          </a:prstGeom>
          <a:solidFill>
            <a:srgbClr val="0B1F3A"/>
          </a:solidFill>
          <a:ln>
            <a:solidFill>
              <a:srgbClr val="F26A21"/>
            </a:solidFill>
          </a:ln>
        </p:spPr>
        <p:txBody>
          <a:bodyPr wrap="square" lIns="2286" tIns="2286" rIns="2286" bIns="2286" rtlCol="0" anchor="ctr">
            <a:normAutofit/>
          </a:bodyPr>
          <a:lstStyle/>
          <a:p>
            <a:pPr marL="0" indent="0">
              <a:buNone/>
            </a:pPr>
            <a:endParaRPr lang="en-US" sz="860" dirty="0"/>
          </a:p>
        </p:txBody>
      </p:sp>
      <p:sp>
        <p:nvSpPr>
          <p:cNvPr id="59" name="Text 57"/>
          <p:cNvSpPr/>
          <p:nvPr/>
        </p:nvSpPr>
        <p:spPr>
          <a:xfrm>
            <a:off x="678721" y="7438644"/>
            <a:ext cx="4061804" cy="210312"/>
          </a:xfrm>
          <a:prstGeom prst="rect">
            <a:avLst/>
          </a:prstGeom>
          <a:noFill/>
          <a:ln/>
        </p:spPr>
        <p:txBody>
          <a:bodyPr wrap="square" lIns="0" tIns="0" rIns="0" bIns="0" rtlCol="0" anchor="ctr"/>
          <a:lstStyle/>
          <a:p>
            <a:pPr marL="0" indent="0">
              <a:buNone/>
            </a:pPr>
            <a:r>
              <a:rPr lang="en-US" sz="1220" b="1" dirty="0">
                <a:solidFill>
                  <a:srgbClr val="FFFFFF"/>
                </a:solidFill>
                <a:latin typeface="Montserrat" pitchFamily="34" charset="0"/>
                <a:ea typeface="Montserrat" pitchFamily="34" charset="-122"/>
                <a:cs typeface="Montserrat" pitchFamily="34" charset="-120"/>
              </a:rPr>
              <a:t>¿Necesitas una cotización personalizada?</a:t>
            </a:r>
            <a:endParaRPr lang="en-US" sz="1220" dirty="0"/>
          </a:p>
        </p:txBody>
      </p:sp>
      <p:sp>
        <p:nvSpPr>
          <p:cNvPr id="60" name="Text 58"/>
          <p:cNvSpPr/>
          <p:nvPr/>
        </p:nvSpPr>
        <p:spPr>
          <a:xfrm>
            <a:off x="5413248" y="7717536"/>
            <a:ext cx="1078992" cy="384048"/>
          </a:xfrm>
          <a:prstGeom prst="rect">
            <a:avLst/>
          </a:prstGeom>
          <a:solidFill>
            <a:srgbClr val="FFB703"/>
          </a:solidFill>
          <a:ln/>
        </p:spPr>
        <p:txBody>
          <a:bodyPr wrap="square" lIns="381" tIns="381" rIns="381" bIns="381" rtlCol="0" anchor="ctr">
            <a:normAutofit/>
          </a:bodyPr>
          <a:lstStyle/>
          <a:p>
            <a:pPr marL="0" indent="0" algn="ctr">
              <a:buNone/>
            </a:pPr>
            <a:r>
              <a:rPr lang="en-US" sz="780" b="1" dirty="0">
                <a:solidFill>
                  <a:srgbClr val="0B1F3A"/>
                </a:solidFill>
                <a:latin typeface="Montserrat" pitchFamily="34" charset="0"/>
                <a:ea typeface="Montserrat" pitchFamily="34" charset="-122"/>
                <a:cs typeface="Montserrat" pitchFamily="34" charset="-120"/>
              </a:rPr>
              <a:t>SOLICITAR COTIZACIÓN</a:t>
            </a:r>
            <a:endParaRPr lang="en-US" sz="780" dirty="0"/>
          </a:p>
        </p:txBody>
      </p:sp>
      <p:sp>
        <p:nvSpPr>
          <p:cNvPr id="61" name="Text 59"/>
          <p:cNvSpPr/>
          <p:nvPr/>
        </p:nvSpPr>
        <p:spPr>
          <a:xfrm>
            <a:off x="502920" y="10122408"/>
            <a:ext cx="4480560" cy="164592"/>
          </a:xfrm>
          <a:prstGeom prst="rect">
            <a:avLst/>
          </a:prstGeom>
          <a:noFill/>
          <a:ln/>
        </p:spPr>
        <p:txBody>
          <a:bodyPr wrap="square" lIns="0" tIns="0" rIns="0" bIns="0" rtlCol="0" anchor="ctr"/>
          <a:lstStyle/>
          <a:p>
            <a:pPr marL="0" indent="0">
              <a:buNone/>
            </a:pPr>
            <a:r>
              <a:rPr lang="en-US" sz="750" dirty="0">
                <a:solidFill>
                  <a:srgbClr val="6B6560"/>
                </a:solidFill>
                <a:latin typeface="Poppins" pitchFamily="34" charset="0"/>
                <a:ea typeface="Poppins" pitchFamily="34" charset="-122"/>
                <a:cs typeface="Poppins" pitchFamily="34" charset="-120"/>
              </a:rPr>
              <a:t>+56 9 6432 9683 | </a:t>
            </a:r>
            <a:r>
              <a:rPr lang="en-US" sz="750" dirty="0" err="1">
                <a:solidFill>
                  <a:srgbClr val="6B6560"/>
                </a:solidFill>
                <a:latin typeface="Poppins" pitchFamily="34" charset="0"/>
                <a:ea typeface="Poppins" pitchFamily="34" charset="-122"/>
                <a:cs typeface="Poppins" pitchFamily="34" charset="-120"/>
              </a:rPr>
              <a:t>athlixchile@gmail.com</a:t>
            </a:r>
            <a:r>
              <a:rPr lang="en-US" sz="750" dirty="0">
                <a:solidFill>
                  <a:srgbClr val="6B6560"/>
                </a:solidFill>
                <a:latin typeface="Poppins" pitchFamily="34" charset="0"/>
                <a:ea typeface="Poppins" pitchFamily="34" charset="-122"/>
                <a:cs typeface="Poppins" pitchFamily="34" charset="-120"/>
              </a:rPr>
              <a:t> | </a:t>
            </a:r>
            <a:r>
              <a:rPr lang="en-US" sz="750" dirty="0" err="1">
                <a:solidFill>
                  <a:srgbClr val="6B6560"/>
                </a:solidFill>
                <a:latin typeface="Poppins" pitchFamily="34" charset="0"/>
                <a:ea typeface="Poppins" pitchFamily="34" charset="-122"/>
                <a:cs typeface="Poppins" pitchFamily="34" charset="-120"/>
              </a:rPr>
              <a:t>www.athlixstore.cl</a:t>
            </a:r>
            <a:endParaRPr lang="en-US" sz="750" dirty="0"/>
          </a:p>
        </p:txBody>
      </p:sp>
      <p:sp>
        <p:nvSpPr>
          <p:cNvPr id="62" name="Text 60"/>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Página 10 de 10</a:t>
            </a:r>
            <a:endParaRPr lang="en-US" sz="750" dirty="0"/>
          </a:p>
        </p:txBody>
      </p:sp>
      <p:sp>
        <p:nvSpPr>
          <p:cNvPr id="63" name="CuadroTexto 62">
            <a:extLst>
              <a:ext uri="{FF2B5EF4-FFF2-40B4-BE49-F238E27FC236}">
                <a16:creationId xmlns:a16="http://schemas.microsoft.com/office/drawing/2014/main" id="{7146138E-5301-D5C3-F498-ED77965A3AF7}"/>
              </a:ext>
            </a:extLst>
          </p:cNvPr>
          <p:cNvSpPr txBox="1"/>
          <p:nvPr/>
        </p:nvSpPr>
        <p:spPr>
          <a:xfrm>
            <a:off x="607977" y="7661394"/>
            <a:ext cx="4604103" cy="507831"/>
          </a:xfrm>
          <a:prstGeom prst="rect">
            <a:avLst/>
          </a:prstGeom>
          <a:noFill/>
        </p:spPr>
        <p:txBody>
          <a:bodyPr wrap="square" rtlCol="0">
            <a:spAutoFit/>
          </a:bodyPr>
          <a:lstStyle/>
          <a:p>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Necesitas</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una</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cotización</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personalizada</a:t>
            </a:r>
            <a:r>
              <a:rPr lang="en-US" sz="900" dirty="0">
                <a:solidFill>
                  <a:schemeClr val="bg1"/>
                </a:solidFill>
                <a:latin typeface="Poppins" pitchFamily="34" charset="0"/>
                <a:ea typeface="Poppins" pitchFamily="34" charset="-122"/>
                <a:cs typeface="Poppins" pitchFamily="34" charset="-120"/>
              </a:rPr>
              <a:t>?</a:t>
            </a:r>
            <a:endParaRPr lang="en-US" sz="900" dirty="0">
              <a:solidFill>
                <a:schemeClr val="bg1"/>
              </a:solidFill>
            </a:endParaRPr>
          </a:p>
          <a:p>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Contáctanos</a:t>
            </a:r>
            <a:r>
              <a:rPr lang="en-US" sz="900" dirty="0">
                <a:solidFill>
                  <a:schemeClr val="bg1"/>
                </a:solidFill>
                <a:latin typeface="Poppins" pitchFamily="34" charset="0"/>
                <a:ea typeface="Poppins" pitchFamily="34" charset="-122"/>
                <a:cs typeface="Poppins" pitchFamily="34" charset="-120"/>
              </a:rPr>
              <a:t> y </a:t>
            </a:r>
            <a:r>
              <a:rPr lang="en-US" sz="900" dirty="0" err="1">
                <a:solidFill>
                  <a:schemeClr val="bg1"/>
                </a:solidFill>
                <a:latin typeface="Poppins" pitchFamily="34" charset="0"/>
                <a:ea typeface="Poppins" pitchFamily="34" charset="-122"/>
                <a:cs typeface="Poppins" pitchFamily="34" charset="-120"/>
              </a:rPr>
              <a:t>te</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enviaremos</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precios</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exactos</a:t>
            </a:r>
            <a:r>
              <a:rPr lang="en-US" sz="900" dirty="0">
                <a:solidFill>
                  <a:schemeClr val="bg1"/>
                </a:solidFill>
                <a:latin typeface="Poppins" pitchFamily="34" charset="0"/>
                <a:ea typeface="Poppins" pitchFamily="34" charset="-122"/>
                <a:cs typeface="Poppins" pitchFamily="34" charset="-120"/>
              </a:rPr>
              <a:t> con </a:t>
            </a:r>
            <a:r>
              <a:rPr lang="en-US" sz="900" dirty="0" err="1">
                <a:solidFill>
                  <a:schemeClr val="bg1"/>
                </a:solidFill>
                <a:latin typeface="Poppins" pitchFamily="34" charset="0"/>
                <a:ea typeface="Poppins" pitchFamily="34" charset="-122"/>
                <a:cs typeface="Poppins" pitchFamily="34" charset="-120"/>
              </a:rPr>
              <a:t>instalación</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despacho</a:t>
            </a:r>
            <a:r>
              <a:rPr lang="en-US" sz="900" dirty="0">
                <a:solidFill>
                  <a:schemeClr val="bg1"/>
                </a:solidFill>
                <a:latin typeface="Poppins" pitchFamily="34" charset="0"/>
                <a:ea typeface="Poppins" pitchFamily="34" charset="-122"/>
                <a:cs typeface="Poppins" pitchFamily="34" charset="-120"/>
              </a:rPr>
              <a:t> y                                                    </a:t>
            </a:r>
            <a:r>
              <a:rPr lang="en-US" sz="900" dirty="0" err="1">
                <a:solidFill>
                  <a:schemeClr val="bg1"/>
                </a:solidFill>
                <a:latin typeface="Poppins" pitchFamily="34" charset="0"/>
                <a:ea typeface="Poppins" pitchFamily="34" charset="-122"/>
                <a:cs typeface="Poppins" pitchFamily="34" charset="-120"/>
              </a:rPr>
              <a:t>condiciones</a:t>
            </a:r>
            <a:r>
              <a:rPr lang="en-US" sz="900" dirty="0">
                <a:solidFill>
                  <a:schemeClr val="bg1"/>
                </a:solidFill>
                <a:latin typeface="Poppins" pitchFamily="34" charset="0"/>
                <a:ea typeface="Poppins" pitchFamily="34" charset="-122"/>
                <a:cs typeface="Poppins" pitchFamily="34" charset="-120"/>
              </a:rPr>
              <a:t> de </a:t>
            </a:r>
            <a:r>
              <a:rPr lang="en-US" sz="900" dirty="0" err="1">
                <a:solidFill>
                  <a:schemeClr val="bg1"/>
                </a:solidFill>
                <a:latin typeface="Poppins" pitchFamily="34" charset="0"/>
                <a:ea typeface="Poppins" pitchFamily="34" charset="-122"/>
                <a:cs typeface="Poppins" pitchFamily="34" charset="-120"/>
              </a:rPr>
              <a:t>pago</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adaptadas</a:t>
            </a:r>
            <a:r>
              <a:rPr lang="en-US" sz="900" dirty="0">
                <a:solidFill>
                  <a:schemeClr val="bg1"/>
                </a:solidFill>
                <a:latin typeface="Poppins" pitchFamily="34" charset="0"/>
                <a:ea typeface="Poppins" pitchFamily="34" charset="-122"/>
                <a:cs typeface="Poppins" pitchFamily="34" charset="-120"/>
              </a:rPr>
              <a:t> a </a:t>
            </a:r>
            <a:r>
              <a:rPr lang="en-US" sz="900" dirty="0" err="1">
                <a:solidFill>
                  <a:schemeClr val="bg1"/>
                </a:solidFill>
                <a:latin typeface="Poppins" pitchFamily="34" charset="0"/>
                <a:ea typeface="Poppins" pitchFamily="34" charset="-122"/>
                <a:cs typeface="Poppins" pitchFamily="34" charset="-120"/>
              </a:rPr>
              <a:t>tu</a:t>
            </a:r>
            <a:r>
              <a:rPr lang="en-US" sz="900" dirty="0">
                <a:solidFill>
                  <a:schemeClr val="bg1"/>
                </a:solidFill>
                <a:latin typeface="Poppins" pitchFamily="34" charset="0"/>
                <a:ea typeface="Poppins" pitchFamily="34" charset="-122"/>
                <a:cs typeface="Poppins" pitchFamily="34" charset="-120"/>
              </a:rPr>
              <a:t> </a:t>
            </a:r>
            <a:r>
              <a:rPr lang="en-US" sz="900" dirty="0" err="1">
                <a:solidFill>
                  <a:schemeClr val="bg1"/>
                </a:solidFill>
                <a:latin typeface="Poppins" pitchFamily="34" charset="0"/>
                <a:ea typeface="Poppins" pitchFamily="34" charset="-122"/>
                <a:cs typeface="Poppins" pitchFamily="34" charset="-120"/>
              </a:rPr>
              <a:t>establecimiento</a:t>
            </a:r>
            <a:r>
              <a:rPr lang="en-US" sz="900" dirty="0">
                <a:solidFill>
                  <a:schemeClr val="bg1"/>
                </a:solidFill>
                <a:latin typeface="Poppins" pitchFamily="34" charset="0"/>
                <a:ea typeface="Poppins" pitchFamily="34" charset="-122"/>
                <a:cs typeface="Poppins" pitchFamily="34" charset="-120"/>
              </a:rPr>
              <a:t>.</a:t>
            </a:r>
            <a:endParaRPr lang="es-CL" sz="9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201168"/>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10442448"/>
            <a:ext cx="7562088" cy="246888"/>
          </a:xfrm>
          <a:prstGeom prst="rect">
            <a:avLst/>
          </a:prstGeom>
          <a:solidFill>
            <a:srgbClr val="F26A21"/>
          </a:solidFill>
          <a:ln w="12700">
            <a:solidFill>
              <a:srgbClr val="F26A21"/>
            </a:solidFill>
            <a:prstDash val="solid"/>
          </a:ln>
        </p:spPr>
        <p:txBody>
          <a:bodyPr/>
          <a:lstStyle/>
          <a:p>
            <a:endParaRPr lang="es-CL"/>
          </a:p>
        </p:txBody>
      </p:sp>
      <p:sp>
        <p:nvSpPr>
          <p:cNvPr id="4" name="Text 2"/>
          <p:cNvSpPr/>
          <p:nvPr/>
        </p:nvSpPr>
        <p:spPr>
          <a:xfrm>
            <a:off x="685800" y="73152"/>
            <a:ext cx="6217920" cy="73152"/>
          </a:xfrm>
          <a:prstGeom prst="rect">
            <a:avLst/>
          </a:prstGeom>
          <a:noFill/>
          <a:ln/>
        </p:spPr>
        <p:txBody>
          <a:bodyPr wrap="square" lIns="0" tIns="0" rIns="0" bIns="0" rtlCol="0" anchor="ctr"/>
          <a:lstStyle/>
          <a:p>
            <a:pPr marL="0" indent="0" algn="ctr">
              <a:buNone/>
            </a:pPr>
            <a:r>
              <a:rPr lang="en-US" sz="680" dirty="0">
                <a:solidFill>
                  <a:srgbClr val="F5F5F5"/>
                </a:solidFill>
                <a:latin typeface="Poppins" pitchFamily="34" charset="0"/>
                <a:ea typeface="Poppins" pitchFamily="34" charset="-122"/>
                <a:cs typeface="Poppins" pitchFamily="34" charset="-120"/>
              </a:rPr>
              <a:t>ATHLIS STORE SpA · CATÁLOGO ESCOLAR 2025</a:t>
            </a:r>
            <a:endParaRPr lang="en-US" sz="680" dirty="0"/>
          </a:p>
        </p:txBody>
      </p:sp>
      <p:sp>
        <p:nvSpPr>
          <p:cNvPr id="5" name="Shape 3"/>
          <p:cNvSpPr/>
          <p:nvPr/>
        </p:nvSpPr>
        <p:spPr>
          <a:xfrm>
            <a:off x="1188720" y="2834640"/>
            <a:ext cx="5166360" cy="3291840"/>
          </a:xfrm>
          <a:prstGeom prst="roundRect">
            <a:avLst>
              <a:gd name="adj" fmla="val 2222"/>
            </a:avLst>
          </a:prstGeom>
          <a:solidFill>
            <a:srgbClr val="121B33"/>
          </a:solidFill>
          <a:ln w="12700">
            <a:solidFill>
              <a:srgbClr val="F26A21"/>
            </a:solidFill>
            <a:prstDash val="solid"/>
          </a:ln>
        </p:spPr>
        <p:txBody>
          <a:bodyPr/>
          <a:lstStyle/>
          <a:p>
            <a:endParaRPr lang="es-CL"/>
          </a:p>
        </p:txBody>
      </p:sp>
      <p:sp>
        <p:nvSpPr>
          <p:cNvPr id="6" name="Text 4"/>
          <p:cNvSpPr/>
          <p:nvPr/>
        </p:nvSpPr>
        <p:spPr>
          <a:xfrm>
            <a:off x="1828800" y="3246120"/>
            <a:ext cx="3886200" cy="256032"/>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ATHLIX STORE SpA</a:t>
            </a:r>
            <a:endParaRPr lang="en-US" sz="1500" dirty="0"/>
          </a:p>
        </p:txBody>
      </p:sp>
      <p:sp>
        <p:nvSpPr>
          <p:cNvPr id="7" name="Text 5"/>
          <p:cNvSpPr/>
          <p:nvPr/>
        </p:nvSpPr>
        <p:spPr>
          <a:xfrm>
            <a:off x="1828800" y="3840480"/>
            <a:ext cx="960120" cy="164592"/>
          </a:xfrm>
          <a:prstGeom prst="rect">
            <a:avLst/>
          </a:prstGeom>
          <a:noFill/>
          <a:ln/>
        </p:spPr>
        <p:txBody>
          <a:bodyPr wrap="square" lIns="0" tIns="0" rIns="0" bIns="0" rtlCol="0" anchor="ctr"/>
          <a:lstStyle/>
          <a:p>
            <a:pPr marL="0" indent="0">
              <a:buNone/>
            </a:pPr>
            <a:r>
              <a:rPr lang="en-US" sz="900" b="1" dirty="0">
                <a:solidFill>
                  <a:srgbClr val="A8B6CC"/>
                </a:solidFill>
                <a:latin typeface="Poppins" pitchFamily="34" charset="0"/>
                <a:ea typeface="Poppins" pitchFamily="34" charset="-122"/>
                <a:cs typeface="Poppins" pitchFamily="34" charset="-120"/>
              </a:rPr>
              <a:t>Ventas:</a:t>
            </a:r>
            <a:endParaRPr lang="en-US" sz="900" dirty="0"/>
          </a:p>
        </p:txBody>
      </p:sp>
      <p:sp>
        <p:nvSpPr>
          <p:cNvPr id="8" name="Text 6"/>
          <p:cNvSpPr/>
          <p:nvPr/>
        </p:nvSpPr>
        <p:spPr>
          <a:xfrm>
            <a:off x="2880360" y="3840480"/>
            <a:ext cx="2560320" cy="164592"/>
          </a:xfrm>
          <a:prstGeom prst="rect">
            <a:avLst/>
          </a:prstGeom>
          <a:noFill/>
          <a:ln/>
        </p:spPr>
        <p:txBody>
          <a:bodyPr wrap="square" lIns="0" tIns="0" rIns="0" bIns="0" rtlCol="0" anchor="ctr"/>
          <a:lstStyle/>
          <a:p>
            <a:pPr marL="0" indent="0">
              <a:buNone/>
            </a:pPr>
            <a:r>
              <a:rPr lang="en-US" sz="900" dirty="0">
                <a:solidFill>
                  <a:srgbClr val="FFFFFF"/>
                </a:solidFill>
                <a:latin typeface="Poppins" pitchFamily="34" charset="0"/>
                <a:ea typeface="Poppins" pitchFamily="34" charset="-122"/>
                <a:cs typeface="Poppins" pitchFamily="34" charset="-120"/>
              </a:rPr>
              <a:t>+56 9 6432 9683</a:t>
            </a:r>
            <a:endParaRPr lang="en-US" sz="900" dirty="0"/>
          </a:p>
        </p:txBody>
      </p:sp>
      <p:sp>
        <p:nvSpPr>
          <p:cNvPr id="9" name="Text 7"/>
          <p:cNvSpPr/>
          <p:nvPr/>
        </p:nvSpPr>
        <p:spPr>
          <a:xfrm>
            <a:off x="1828800" y="4224528"/>
            <a:ext cx="960120" cy="164592"/>
          </a:xfrm>
          <a:prstGeom prst="rect">
            <a:avLst/>
          </a:prstGeom>
          <a:noFill/>
          <a:ln/>
        </p:spPr>
        <p:txBody>
          <a:bodyPr wrap="square" lIns="0" tIns="0" rIns="0" bIns="0" rtlCol="0" anchor="ctr"/>
          <a:lstStyle/>
          <a:p>
            <a:pPr marL="0" indent="0">
              <a:buNone/>
            </a:pPr>
            <a:r>
              <a:rPr lang="en-US" sz="900" b="1" dirty="0">
                <a:solidFill>
                  <a:srgbClr val="A8B6CC"/>
                </a:solidFill>
                <a:latin typeface="Poppins" pitchFamily="34" charset="0"/>
                <a:ea typeface="Poppins" pitchFamily="34" charset="-122"/>
                <a:cs typeface="Poppins" pitchFamily="34" charset="-120"/>
              </a:rPr>
              <a:t>Email:</a:t>
            </a:r>
            <a:endParaRPr lang="en-US" sz="900" dirty="0"/>
          </a:p>
        </p:txBody>
      </p:sp>
      <p:sp>
        <p:nvSpPr>
          <p:cNvPr id="10" name="Text 8"/>
          <p:cNvSpPr/>
          <p:nvPr/>
        </p:nvSpPr>
        <p:spPr>
          <a:xfrm>
            <a:off x="2880360" y="4224528"/>
            <a:ext cx="2560320" cy="164592"/>
          </a:xfrm>
          <a:prstGeom prst="rect">
            <a:avLst/>
          </a:prstGeom>
          <a:noFill/>
          <a:ln/>
        </p:spPr>
        <p:txBody>
          <a:bodyPr wrap="square" lIns="0" tIns="0" rIns="0" bIns="0" rtlCol="0" anchor="ctr"/>
          <a:lstStyle/>
          <a:p>
            <a:pPr marL="0" indent="0">
              <a:buNone/>
            </a:pPr>
            <a:r>
              <a:rPr lang="en-US" sz="900" dirty="0" err="1">
                <a:solidFill>
                  <a:srgbClr val="FFFFFF"/>
                </a:solidFill>
                <a:latin typeface="Poppins" pitchFamily="34" charset="0"/>
                <a:ea typeface="Poppins" pitchFamily="34" charset="-122"/>
                <a:cs typeface="Poppins" pitchFamily="34" charset="-120"/>
              </a:rPr>
              <a:t>athlixchile@gmail.com</a:t>
            </a:r>
            <a:endParaRPr lang="en-US" sz="900" dirty="0"/>
          </a:p>
        </p:txBody>
      </p:sp>
      <p:sp>
        <p:nvSpPr>
          <p:cNvPr id="11" name="Text 9"/>
          <p:cNvSpPr/>
          <p:nvPr/>
        </p:nvSpPr>
        <p:spPr>
          <a:xfrm>
            <a:off x="1828800" y="4608576"/>
            <a:ext cx="960120" cy="164592"/>
          </a:xfrm>
          <a:prstGeom prst="rect">
            <a:avLst/>
          </a:prstGeom>
          <a:noFill/>
          <a:ln/>
        </p:spPr>
        <p:txBody>
          <a:bodyPr wrap="square" lIns="0" tIns="0" rIns="0" bIns="0" rtlCol="0" anchor="ctr"/>
          <a:lstStyle/>
          <a:p>
            <a:pPr marL="0" indent="0">
              <a:buNone/>
            </a:pPr>
            <a:r>
              <a:rPr lang="en-US" sz="900" b="1" dirty="0">
                <a:solidFill>
                  <a:srgbClr val="A8B6CC"/>
                </a:solidFill>
                <a:latin typeface="Poppins" pitchFamily="34" charset="0"/>
                <a:ea typeface="Poppins" pitchFamily="34" charset="-122"/>
                <a:cs typeface="Poppins" pitchFamily="34" charset="-120"/>
              </a:rPr>
              <a:t>Web:</a:t>
            </a:r>
            <a:endParaRPr lang="en-US" sz="900" dirty="0"/>
          </a:p>
        </p:txBody>
      </p:sp>
      <p:sp>
        <p:nvSpPr>
          <p:cNvPr id="12" name="Text 10"/>
          <p:cNvSpPr/>
          <p:nvPr/>
        </p:nvSpPr>
        <p:spPr>
          <a:xfrm>
            <a:off x="2880360" y="4608576"/>
            <a:ext cx="2560320" cy="164592"/>
          </a:xfrm>
          <a:prstGeom prst="rect">
            <a:avLst/>
          </a:prstGeom>
          <a:noFill/>
          <a:ln/>
        </p:spPr>
        <p:txBody>
          <a:bodyPr wrap="square" lIns="0" tIns="0" rIns="0" bIns="0" rtlCol="0" anchor="ctr"/>
          <a:lstStyle/>
          <a:p>
            <a:pPr marL="0" indent="0">
              <a:buNone/>
            </a:pPr>
            <a:r>
              <a:rPr lang="en-US" sz="900" dirty="0" err="1">
                <a:solidFill>
                  <a:srgbClr val="FFFFFF"/>
                </a:solidFill>
                <a:latin typeface="Poppins" pitchFamily="34" charset="0"/>
                <a:ea typeface="Poppins" pitchFamily="34" charset="-122"/>
                <a:cs typeface="Poppins" pitchFamily="34" charset="-120"/>
              </a:rPr>
              <a:t>www.athlixstore.cl</a:t>
            </a:r>
            <a:endParaRPr lang="en-US" sz="900" dirty="0"/>
          </a:p>
        </p:txBody>
      </p:sp>
      <p:sp>
        <p:nvSpPr>
          <p:cNvPr id="13" name="Text 11"/>
          <p:cNvSpPr/>
          <p:nvPr/>
        </p:nvSpPr>
        <p:spPr>
          <a:xfrm>
            <a:off x="1828800" y="4992624"/>
            <a:ext cx="960120" cy="164592"/>
          </a:xfrm>
          <a:prstGeom prst="rect">
            <a:avLst/>
          </a:prstGeom>
          <a:noFill/>
          <a:ln/>
        </p:spPr>
        <p:txBody>
          <a:bodyPr wrap="square" lIns="0" tIns="0" rIns="0" bIns="0" rtlCol="0" anchor="ctr"/>
          <a:lstStyle/>
          <a:p>
            <a:pPr marL="0" indent="0">
              <a:buNone/>
            </a:pPr>
            <a:r>
              <a:rPr lang="en-US" sz="900" b="1" dirty="0">
                <a:solidFill>
                  <a:srgbClr val="A8B6CC"/>
                </a:solidFill>
                <a:latin typeface="Poppins" pitchFamily="34" charset="0"/>
                <a:ea typeface="Poppins" pitchFamily="34" charset="-122"/>
                <a:cs typeface="Poppins" pitchFamily="34" charset="-120"/>
              </a:rPr>
              <a:t>Cobertura:</a:t>
            </a:r>
            <a:endParaRPr lang="en-US" sz="900" dirty="0"/>
          </a:p>
        </p:txBody>
      </p:sp>
      <p:sp>
        <p:nvSpPr>
          <p:cNvPr id="14" name="Text 12"/>
          <p:cNvSpPr/>
          <p:nvPr/>
        </p:nvSpPr>
        <p:spPr>
          <a:xfrm>
            <a:off x="2880360" y="4992624"/>
            <a:ext cx="2560320" cy="164592"/>
          </a:xfrm>
          <a:prstGeom prst="rect">
            <a:avLst/>
          </a:prstGeom>
          <a:noFill/>
          <a:ln/>
        </p:spPr>
        <p:txBody>
          <a:bodyPr wrap="square" lIns="0" tIns="0" rIns="0" bIns="0" rtlCol="0" anchor="ctr"/>
          <a:lstStyle/>
          <a:p>
            <a:pPr marL="0" indent="0">
              <a:buNone/>
            </a:pPr>
            <a:r>
              <a:rPr lang="en-US" sz="900" dirty="0">
                <a:solidFill>
                  <a:srgbClr val="FFFFFF"/>
                </a:solidFill>
                <a:latin typeface="Poppins" pitchFamily="34" charset="0"/>
                <a:ea typeface="Poppins" pitchFamily="34" charset="-122"/>
                <a:cs typeface="Poppins" pitchFamily="34" charset="-120"/>
              </a:rPr>
              <a:t>Todo Chile</a:t>
            </a:r>
            <a:endParaRPr lang="en-US" sz="900" dirty="0"/>
          </a:p>
        </p:txBody>
      </p:sp>
      <p:sp>
        <p:nvSpPr>
          <p:cNvPr id="15" name="Text 13"/>
          <p:cNvSpPr/>
          <p:nvPr/>
        </p:nvSpPr>
        <p:spPr>
          <a:xfrm>
            <a:off x="2148840" y="5394960"/>
            <a:ext cx="2788920" cy="256032"/>
          </a:xfrm>
          <a:prstGeom prst="rect">
            <a:avLst/>
          </a:prstGeom>
          <a:solidFill>
            <a:srgbClr val="F26A21"/>
          </a:solidFill>
          <a:ln/>
        </p:spPr>
        <p:txBody>
          <a:bodyPr wrap="square" lIns="635" tIns="635" rIns="635" bIns="635" rtlCol="0" anchor="ctr"/>
          <a:lstStyle/>
          <a:p>
            <a:pPr marL="0" indent="0" algn="ctr">
              <a:buNone/>
            </a:pPr>
            <a:r>
              <a:rPr lang="en-US" sz="1000" b="1" dirty="0">
                <a:solidFill>
                  <a:srgbClr val="0B1F3A"/>
                </a:solidFill>
                <a:latin typeface="Montserrat" pitchFamily="34" charset="0"/>
                <a:ea typeface="Montserrat" pitchFamily="34" charset="-122"/>
                <a:cs typeface="Montserrat" pitchFamily="34" charset="-120"/>
              </a:rPr>
              <a:t>SOLICITA TU COTIZACIÓN HOY</a:t>
            </a:r>
            <a:endParaRPr lang="en-US" sz="1000" dirty="0"/>
          </a:p>
        </p:txBody>
      </p:sp>
      <p:sp>
        <p:nvSpPr>
          <p:cNvPr id="16" name="Text 14"/>
          <p:cNvSpPr/>
          <p:nvPr/>
        </p:nvSpPr>
        <p:spPr>
          <a:xfrm>
            <a:off x="1783080" y="5669280"/>
            <a:ext cx="3931920" cy="164592"/>
          </a:xfrm>
          <a:prstGeom prst="rect">
            <a:avLst/>
          </a:prstGeom>
          <a:noFill/>
          <a:ln/>
        </p:spPr>
        <p:txBody>
          <a:bodyPr wrap="square" lIns="0" tIns="0" rIns="0" bIns="0" rtlCol="0" anchor="ctr"/>
          <a:lstStyle/>
          <a:p>
            <a:pPr marL="0" indent="0" algn="ctr">
              <a:buNone/>
            </a:pPr>
            <a:r>
              <a:rPr lang="en-US" sz="810" dirty="0">
                <a:solidFill>
                  <a:srgbClr val="CBD5E1"/>
                </a:solidFill>
                <a:latin typeface="Poppins" pitchFamily="34" charset="0"/>
                <a:ea typeface="Poppins" pitchFamily="34" charset="-122"/>
                <a:cs typeface="Poppins" pitchFamily="34" charset="-120"/>
              </a:rPr>
              <a:t>Atención personalizada · Garantía real · Despacho a todo Chile</a:t>
            </a:r>
            <a:endParaRPr lang="en-US" sz="81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5532120"/>
            <a:ext cx="7562088" cy="0"/>
          </a:xfrm>
          <a:prstGeom prst="line">
            <a:avLst/>
          </a:prstGeom>
          <a:noFill/>
          <a:ln w="12700">
            <a:solidFill>
              <a:srgbClr val="F26A21"/>
            </a:solidFill>
            <a:prstDash val="solid"/>
          </a:ln>
        </p:spPr>
        <p:txBody>
          <a:bodyPr/>
          <a:lstStyle/>
          <a:p>
            <a:endParaRPr lang="es-CL"/>
          </a:p>
        </p:txBody>
      </p:sp>
      <p:sp>
        <p:nvSpPr>
          <p:cNvPr id="4" name="Shape 2"/>
          <p:cNvSpPr/>
          <p:nvPr/>
        </p:nvSpPr>
        <p:spPr>
          <a:xfrm>
            <a:off x="0" y="8869680"/>
            <a:ext cx="7562088" cy="0"/>
          </a:xfrm>
          <a:prstGeom prst="line">
            <a:avLst/>
          </a:prstGeom>
          <a:noFill/>
          <a:ln w="12700">
            <a:solidFill>
              <a:srgbClr val="F26A21"/>
            </a:solidFill>
            <a:prstDash val="solid"/>
          </a:ln>
        </p:spPr>
        <p:txBody>
          <a:bodyPr/>
          <a:lstStyle/>
          <a:p>
            <a:endParaRPr lang="es-CL"/>
          </a:p>
        </p:txBody>
      </p:sp>
      <p:sp>
        <p:nvSpPr>
          <p:cNvPr id="5" name="Shape 3"/>
          <p:cNvSpPr/>
          <p:nvPr/>
        </p:nvSpPr>
        <p:spPr>
          <a:xfrm>
            <a:off x="5669280" y="4343400"/>
            <a:ext cx="1051560" cy="1051560"/>
          </a:xfrm>
          <a:prstGeom prst="ellipse">
            <a:avLst/>
          </a:prstGeom>
          <a:solidFill>
            <a:srgbClr val="FFB703"/>
          </a:solidFill>
          <a:ln w="12700">
            <a:solidFill>
              <a:srgbClr val="FFB703"/>
            </a:solidFill>
            <a:prstDash val="solid"/>
          </a:ln>
        </p:spPr>
        <p:txBody>
          <a:bodyPr/>
          <a:lstStyle/>
          <a:p>
            <a:endParaRPr lang="es-CL"/>
          </a:p>
        </p:txBody>
      </p:sp>
      <p:sp>
        <p:nvSpPr>
          <p:cNvPr id="6" name="Text 4"/>
          <p:cNvSpPr/>
          <p:nvPr/>
        </p:nvSpPr>
        <p:spPr>
          <a:xfrm>
            <a:off x="502920" y="4343400"/>
            <a:ext cx="1280160"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PLANTILLA</a:t>
            </a:r>
            <a:endParaRPr lang="en-US" sz="850" dirty="0"/>
          </a:p>
        </p:txBody>
      </p:sp>
      <p:sp>
        <p:nvSpPr>
          <p:cNvPr id="7" name="Text 5"/>
          <p:cNvSpPr/>
          <p:nvPr/>
        </p:nvSpPr>
        <p:spPr>
          <a:xfrm>
            <a:off x="502920" y="4892040"/>
            <a:ext cx="4389120" cy="420624"/>
          </a:xfrm>
          <a:prstGeom prst="rect">
            <a:avLst/>
          </a:prstGeom>
          <a:noFill/>
          <a:ln/>
        </p:spPr>
        <p:txBody>
          <a:bodyPr wrap="square" lIns="0" tIns="0" rIns="0" bIns="0" rtlCol="0" anchor="ctr"/>
          <a:lstStyle/>
          <a:p>
            <a:pPr marL="0" indent="0">
              <a:buNone/>
            </a:pPr>
            <a:r>
              <a:rPr lang="en-US" sz="2400" b="1" dirty="0">
                <a:solidFill>
                  <a:srgbClr val="FFFFFF"/>
                </a:solidFill>
                <a:latin typeface="Montserrat" pitchFamily="34" charset="0"/>
                <a:ea typeface="Montserrat" pitchFamily="34" charset="-122"/>
                <a:cs typeface="Montserrat" pitchFamily="34" charset="-120"/>
              </a:rPr>
              <a:t>NUEVA SECCIÓN</a:t>
            </a:r>
            <a:endParaRPr lang="en-US" sz="2400" dirty="0"/>
          </a:p>
        </p:txBody>
      </p:sp>
      <p:sp>
        <p:nvSpPr>
          <p:cNvPr id="8" name="Text 6"/>
          <p:cNvSpPr/>
          <p:nvPr/>
        </p:nvSpPr>
        <p:spPr>
          <a:xfrm>
            <a:off x="502920" y="5742432"/>
            <a:ext cx="4297680" cy="201168"/>
          </a:xfrm>
          <a:prstGeom prst="rect">
            <a:avLst/>
          </a:prstGeom>
          <a:noFill/>
          <a:ln/>
        </p:spPr>
        <p:txBody>
          <a:bodyPr wrap="square" lIns="0" tIns="0" rIns="0" bIns="0" rtlCol="0" anchor="ctr"/>
          <a:lstStyle/>
          <a:p>
            <a:pPr marL="0" indent="0">
              <a:buNone/>
            </a:pPr>
            <a:r>
              <a:rPr lang="en-US" sz="880" dirty="0">
                <a:solidFill>
                  <a:srgbClr val="A8B6CC"/>
                </a:solidFill>
                <a:latin typeface="Poppins" pitchFamily="34" charset="0"/>
                <a:ea typeface="Poppins" pitchFamily="34" charset="-122"/>
                <a:cs typeface="Poppins" pitchFamily="34" charset="-120"/>
              </a:rPr>
              <a:t>Reemplaza este título, duplica la página y ajusta el subtítulo según tu nueva categoría.</a:t>
            </a:r>
            <a:endParaRPr lang="en-US" sz="880" dirty="0"/>
          </a:p>
        </p:txBody>
      </p:sp>
      <p:sp>
        <p:nvSpPr>
          <p:cNvPr id="9" name="Text 7"/>
          <p:cNvSpPr/>
          <p:nvPr/>
        </p:nvSpPr>
        <p:spPr>
          <a:xfrm>
            <a:off x="5230368" y="6784848"/>
            <a:ext cx="1097280" cy="475488"/>
          </a:xfrm>
          <a:prstGeom prst="rect">
            <a:avLst/>
          </a:prstGeom>
          <a:noFill/>
          <a:ln/>
        </p:spPr>
        <p:txBody>
          <a:bodyPr wrap="square" lIns="0" tIns="0" rIns="0" bIns="0" rtlCol="0" anchor="ctr"/>
          <a:lstStyle/>
          <a:p>
            <a:pPr marL="0" indent="0" algn="r">
              <a:buNone/>
            </a:pPr>
            <a:r>
              <a:rPr lang="en-US" sz="2200" b="1" dirty="0">
                <a:solidFill>
                  <a:srgbClr val="FFB703"/>
                </a:solidFill>
                <a:latin typeface="Montserrat" pitchFamily="34" charset="0"/>
                <a:ea typeface="Montserrat" pitchFamily="34" charset="-122"/>
                <a:cs typeface="Montserrat" pitchFamily="34" charset="-120"/>
              </a:rPr>
              <a:t>XX</a:t>
            </a:r>
            <a:endParaRPr lang="en-US" sz="2200" dirty="0"/>
          </a:p>
        </p:txBody>
      </p:sp>
      <p:sp>
        <p:nvSpPr>
          <p:cNvPr id="10" name="Text 8"/>
          <p:cNvSpPr/>
          <p:nvPr/>
        </p:nvSpPr>
        <p:spPr>
          <a:xfrm>
            <a:off x="502920" y="9491472"/>
            <a:ext cx="4114800" cy="182880"/>
          </a:xfrm>
          <a:prstGeom prst="rect">
            <a:avLst/>
          </a:prstGeom>
          <a:noFill/>
          <a:ln/>
        </p:spPr>
        <p:txBody>
          <a:bodyPr wrap="square" lIns="0" tIns="0" rIns="0" bIns="0" rtlCol="0" anchor="ctr"/>
          <a:lstStyle/>
          <a:p>
            <a:pPr marL="0" indent="0">
              <a:buNone/>
            </a:pPr>
            <a:r>
              <a:rPr lang="en-US" sz="830" dirty="0">
                <a:solidFill>
                  <a:srgbClr val="CBD5E1"/>
                </a:solidFill>
                <a:latin typeface="Poppins" pitchFamily="34" charset="0"/>
                <a:ea typeface="Poppins" pitchFamily="34" charset="-122"/>
                <a:cs typeface="Poppins" pitchFamily="34" charset="-120"/>
              </a:rPr>
              <a:t>Consejo: duplica esta diapositiva para mantener el mismo estilo visual.</a:t>
            </a:r>
            <a:endParaRPr lang="en-US" sz="830" dirty="0"/>
          </a:p>
        </p:txBody>
      </p:sp>
      <p:sp>
        <p:nvSpPr>
          <p:cNvPr id="11" name="Shape 9"/>
          <p:cNvSpPr/>
          <p:nvPr/>
        </p:nvSpPr>
        <p:spPr>
          <a:xfrm>
            <a:off x="0" y="10213848"/>
            <a:ext cx="7562088" cy="475488"/>
          </a:xfrm>
          <a:prstGeom prst="rect">
            <a:avLst/>
          </a:prstGeom>
          <a:solidFill>
            <a:srgbClr val="0B1F3A"/>
          </a:solidFill>
          <a:ln w="12700">
            <a:solidFill>
              <a:srgbClr val="0B1F3A"/>
            </a:solidFill>
            <a:prstDash val="solid"/>
          </a:ln>
        </p:spPr>
        <p:txBody>
          <a:bodyPr/>
          <a:lstStyle/>
          <a:p>
            <a:endParaRPr lang="es-CL"/>
          </a:p>
        </p:txBody>
      </p:sp>
      <p:sp>
        <p:nvSpPr>
          <p:cNvPr id="12" name="Text 10"/>
          <p:cNvSpPr/>
          <p:nvPr/>
        </p:nvSpPr>
        <p:spPr>
          <a:xfrm>
            <a:off x="502920" y="10323576"/>
            <a:ext cx="4389120" cy="128016"/>
          </a:xfrm>
          <a:prstGeom prst="rect">
            <a:avLst/>
          </a:prstGeom>
          <a:noFill/>
          <a:ln/>
        </p:spPr>
        <p:txBody>
          <a:bodyPr wrap="square" lIns="0" tIns="0" rIns="0" bIns="0" rtlCol="0" anchor="ctr"/>
          <a:lstStyle/>
          <a:p>
            <a:pPr marL="0" indent="0">
              <a:buNone/>
            </a:pPr>
            <a:r>
              <a:rPr lang="en-US" sz="750" dirty="0">
                <a:solidFill>
                  <a:srgbClr val="CBD5E1"/>
                </a:solidFill>
                <a:latin typeface="Poppins" pitchFamily="34" charset="0"/>
                <a:ea typeface="Poppins" pitchFamily="34" charset="-122"/>
                <a:cs typeface="Poppins" pitchFamily="34" charset="-120"/>
              </a:rPr>
              <a:t>ATHLIS STORE SpA · Catálogo Escolar 2025</a:t>
            </a:r>
            <a:endParaRPr lang="en-US" sz="750" dirty="0"/>
          </a:p>
        </p:txBody>
      </p:sp>
      <p:sp>
        <p:nvSpPr>
          <p:cNvPr id="13" name="Text 11"/>
          <p:cNvSpPr/>
          <p:nvPr/>
        </p:nvSpPr>
        <p:spPr>
          <a:xfrm>
            <a:off x="5760720" y="10323576"/>
            <a:ext cx="1280160" cy="128016"/>
          </a:xfrm>
          <a:prstGeom prst="rect">
            <a:avLst/>
          </a:prstGeom>
          <a:noFill/>
          <a:ln/>
        </p:spPr>
        <p:txBody>
          <a:bodyPr wrap="square" lIns="0" tIns="0" rIns="0" bIns="0" rtlCol="0" anchor="ctr"/>
          <a:lstStyle/>
          <a:p>
            <a:pPr marL="0" indent="0" algn="r">
              <a:buNone/>
            </a:pPr>
            <a:r>
              <a:rPr lang="en-US" sz="750" dirty="0">
                <a:solidFill>
                  <a:srgbClr val="CBD5E1"/>
                </a:solidFill>
                <a:latin typeface="Poppins" pitchFamily="34" charset="0"/>
                <a:ea typeface="Poppins" pitchFamily="34" charset="-122"/>
                <a:cs typeface="Poppins" pitchFamily="34" charset="-120"/>
              </a:rPr>
              <a:t>Plantilla sección</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7562088" cy="82296"/>
          </a:xfrm>
          <a:prstGeom prst="rect">
            <a:avLst/>
          </a:prstGeom>
          <a:solidFill>
            <a:srgbClr val="F26A21"/>
          </a:solidFill>
          <a:ln w="12700">
            <a:solidFill>
              <a:srgbClr val="F26A21"/>
            </a:solidFill>
            <a:prstDash val="solid"/>
          </a:ln>
        </p:spPr>
        <p:txBody>
          <a:bodyPr/>
          <a:lstStyle/>
          <a:p>
            <a:endParaRPr lang="es-CL"/>
          </a:p>
        </p:txBody>
      </p:sp>
      <p:sp>
        <p:nvSpPr>
          <p:cNvPr id="3" name="Shape 1"/>
          <p:cNvSpPr/>
          <p:nvPr/>
        </p:nvSpPr>
        <p:spPr>
          <a:xfrm>
            <a:off x="0" y="82296"/>
            <a:ext cx="7562088" cy="347472"/>
          </a:xfrm>
          <a:prstGeom prst="rect">
            <a:avLst/>
          </a:prstGeom>
          <a:solidFill>
            <a:srgbClr val="0B1F3A"/>
          </a:solidFill>
          <a:ln w="12700">
            <a:solidFill>
              <a:srgbClr val="0B1F3A"/>
            </a:solidFill>
            <a:prstDash val="solid"/>
          </a:ln>
        </p:spPr>
        <p:txBody>
          <a:bodyPr/>
          <a:lstStyle/>
          <a:p>
            <a:endParaRPr lang="es-CL"/>
          </a:p>
        </p:txBody>
      </p:sp>
      <p:sp>
        <p:nvSpPr>
          <p:cNvPr id="4" name="Text 2"/>
          <p:cNvSpPr/>
          <p:nvPr/>
        </p:nvSpPr>
        <p:spPr>
          <a:xfrm>
            <a:off x="502920" y="155448"/>
            <a:ext cx="1828800" cy="137160"/>
          </a:xfrm>
          <a:prstGeom prst="rect">
            <a:avLst/>
          </a:prstGeom>
          <a:noFill/>
          <a:ln/>
        </p:spPr>
        <p:txBody>
          <a:bodyPr wrap="square" lIns="0" tIns="0" rIns="0" bIns="0" rtlCol="0" anchor="ctr"/>
          <a:lstStyle/>
          <a:p>
            <a:pPr marL="0" indent="0">
              <a:buNone/>
            </a:pPr>
            <a:r>
              <a:rPr lang="en-US" sz="900" b="1" dirty="0">
                <a:solidFill>
                  <a:srgbClr val="FFFFFF"/>
                </a:solidFill>
                <a:latin typeface="Montserrat" pitchFamily="34" charset="0"/>
                <a:ea typeface="Montserrat" pitchFamily="34" charset="-122"/>
                <a:cs typeface="Montserrat" pitchFamily="34" charset="-120"/>
              </a:rPr>
              <a:t>ATHLIS STORE SpA</a:t>
            </a:r>
            <a:endParaRPr lang="en-US" sz="900" dirty="0"/>
          </a:p>
        </p:txBody>
      </p:sp>
      <p:sp>
        <p:nvSpPr>
          <p:cNvPr id="5" name="Text 3"/>
          <p:cNvSpPr/>
          <p:nvPr/>
        </p:nvSpPr>
        <p:spPr>
          <a:xfrm>
            <a:off x="4617720" y="155448"/>
            <a:ext cx="2423160" cy="137160"/>
          </a:xfrm>
          <a:prstGeom prst="rect">
            <a:avLst/>
          </a:prstGeom>
          <a:noFill/>
          <a:ln/>
        </p:spPr>
        <p:txBody>
          <a:bodyPr wrap="square" lIns="0" tIns="0" rIns="0" bIns="0" rtlCol="0" anchor="ctr"/>
          <a:lstStyle/>
          <a:p>
            <a:pPr marL="0" indent="0" algn="r">
              <a:buNone/>
            </a:pPr>
            <a:r>
              <a:rPr lang="en-US" sz="800" b="1" dirty="0">
                <a:solidFill>
                  <a:srgbClr val="F26A21"/>
                </a:solidFill>
                <a:latin typeface="Poppins" pitchFamily="34" charset="0"/>
                <a:ea typeface="Poppins" pitchFamily="34" charset="-122"/>
                <a:cs typeface="Poppins" pitchFamily="34" charset="-120"/>
              </a:rPr>
              <a:t>CATÁLOGO ESCOLAR 2025</a:t>
            </a:r>
            <a:endParaRPr lang="en-US" sz="800" dirty="0"/>
          </a:p>
        </p:txBody>
      </p:sp>
      <p:sp>
        <p:nvSpPr>
          <p:cNvPr id="6" name="Shape 4"/>
          <p:cNvSpPr/>
          <p:nvPr/>
        </p:nvSpPr>
        <p:spPr>
          <a:xfrm>
            <a:off x="502920" y="10040112"/>
            <a:ext cx="6556248" cy="0"/>
          </a:xfrm>
          <a:prstGeom prst="line">
            <a:avLst/>
          </a:prstGeom>
          <a:noFill/>
          <a:ln w="12700">
            <a:solidFill>
              <a:srgbClr val="F26A21"/>
            </a:solidFill>
            <a:prstDash val="solid"/>
          </a:ln>
        </p:spPr>
        <p:txBody>
          <a:bodyPr/>
          <a:lstStyle/>
          <a:p>
            <a:endParaRPr lang="es-CL"/>
          </a:p>
        </p:txBody>
      </p:sp>
      <p:sp>
        <p:nvSpPr>
          <p:cNvPr id="7" name="Text 5"/>
          <p:cNvSpPr/>
          <p:nvPr/>
        </p:nvSpPr>
        <p:spPr>
          <a:xfrm>
            <a:off x="502920" y="749808"/>
            <a:ext cx="1554480" cy="164592"/>
          </a:xfrm>
          <a:prstGeom prst="rect">
            <a:avLst/>
          </a:prstGeom>
          <a:noFill/>
          <a:ln/>
        </p:spPr>
        <p:txBody>
          <a:bodyPr wrap="square" lIns="0" tIns="0" rIns="0" bIns="0" rtlCol="0" anchor="ctr"/>
          <a:lstStyle/>
          <a:p>
            <a:pPr marL="0" indent="0">
              <a:buNone/>
            </a:pPr>
            <a:r>
              <a:rPr lang="en-US" sz="850" b="1" dirty="0">
                <a:solidFill>
                  <a:srgbClr val="F26A21"/>
                </a:solidFill>
                <a:latin typeface="Poppins" pitchFamily="34" charset="0"/>
                <a:ea typeface="Poppins" pitchFamily="34" charset="-122"/>
                <a:cs typeface="Poppins" pitchFamily="34" charset="-120"/>
              </a:rPr>
              <a:t>CÓDIGO-PRODUCTO</a:t>
            </a:r>
            <a:endParaRPr lang="en-US" sz="850" dirty="0"/>
          </a:p>
        </p:txBody>
      </p:sp>
      <p:sp>
        <p:nvSpPr>
          <p:cNvPr id="8" name="Text 6"/>
          <p:cNvSpPr/>
          <p:nvPr/>
        </p:nvSpPr>
        <p:spPr>
          <a:xfrm>
            <a:off x="2167128" y="749808"/>
            <a:ext cx="1005840" cy="164592"/>
          </a:xfrm>
          <a:prstGeom prst="rect">
            <a:avLst/>
          </a:prstGeom>
          <a:noFill/>
          <a:ln/>
        </p:spPr>
        <p:txBody>
          <a:bodyPr wrap="square" lIns="0" tIns="0" rIns="0" bIns="0" rtlCol="0" anchor="ctr"/>
          <a:lstStyle/>
          <a:p>
            <a:pPr marL="0" indent="0">
              <a:buNone/>
            </a:pPr>
            <a:r>
              <a:rPr lang="en-US" sz="820" b="1" dirty="0">
                <a:solidFill>
                  <a:srgbClr val="6B6560"/>
                </a:solidFill>
                <a:latin typeface="Poppins" pitchFamily="34" charset="0"/>
                <a:ea typeface="Poppins" pitchFamily="34" charset="-122"/>
                <a:cs typeface="Poppins" pitchFamily="34" charset="-120"/>
              </a:rPr>
              <a:t>FICHA TÉCNICA</a:t>
            </a:r>
            <a:endParaRPr lang="en-US" sz="820" dirty="0"/>
          </a:p>
        </p:txBody>
      </p:sp>
      <p:sp>
        <p:nvSpPr>
          <p:cNvPr id="9" name="Text 7"/>
          <p:cNvSpPr/>
          <p:nvPr/>
        </p:nvSpPr>
        <p:spPr>
          <a:xfrm>
            <a:off x="502920" y="1005840"/>
            <a:ext cx="4663440" cy="438912"/>
          </a:xfrm>
          <a:prstGeom prst="rect">
            <a:avLst/>
          </a:prstGeom>
          <a:noFill/>
          <a:ln/>
        </p:spPr>
        <p:txBody>
          <a:bodyPr wrap="square" lIns="0" tIns="0" rIns="0" bIns="0" rtlCol="0" anchor="ctr"/>
          <a:lstStyle/>
          <a:p>
            <a:pPr marL="0" indent="0">
              <a:buNone/>
            </a:pPr>
            <a:r>
              <a:rPr lang="en-US" sz="1800" b="1" dirty="0">
                <a:solidFill>
                  <a:srgbClr val="0B1F3A"/>
                </a:solidFill>
                <a:latin typeface="Montserrat" pitchFamily="34" charset="0"/>
                <a:ea typeface="Montserrat" pitchFamily="34" charset="-122"/>
                <a:cs typeface="Montserrat" pitchFamily="34" charset="-120"/>
              </a:rPr>
              <a:t>Título del nuevo producto</a:t>
            </a:r>
            <a:endParaRPr lang="en-US" sz="1800" dirty="0"/>
          </a:p>
        </p:txBody>
      </p:sp>
      <p:sp>
        <p:nvSpPr>
          <p:cNvPr id="10" name="Text 8"/>
          <p:cNvSpPr/>
          <p:nvPr/>
        </p:nvSpPr>
        <p:spPr>
          <a:xfrm>
            <a:off x="502920" y="1481328"/>
            <a:ext cx="5394960" cy="201168"/>
          </a:xfrm>
          <a:prstGeom prst="rect">
            <a:avLst/>
          </a:prstGeom>
          <a:noFill/>
          <a:ln/>
        </p:spPr>
        <p:txBody>
          <a:bodyPr wrap="square" lIns="0" tIns="0" rIns="0" bIns="0" rtlCol="0" anchor="ctr"/>
          <a:lstStyle/>
          <a:p>
            <a:pPr marL="0" indent="0">
              <a:buNone/>
            </a:pPr>
            <a:r>
              <a:rPr lang="en-US" sz="890" dirty="0">
                <a:solidFill>
                  <a:srgbClr val="6B6560"/>
                </a:solidFill>
                <a:latin typeface="Poppins" pitchFamily="34" charset="0"/>
                <a:ea typeface="Poppins" pitchFamily="34" charset="-122"/>
                <a:cs typeface="Poppins" pitchFamily="34" charset="-120"/>
              </a:rPr>
              <a:t>Subtítulo editable para explicar uso, categoría o ventaja principal.</a:t>
            </a:r>
            <a:endParaRPr lang="en-US" sz="890" dirty="0"/>
          </a:p>
        </p:txBody>
      </p:sp>
      <p:sp>
        <p:nvSpPr>
          <p:cNvPr id="11" name="Shape 9"/>
          <p:cNvSpPr/>
          <p:nvPr/>
        </p:nvSpPr>
        <p:spPr>
          <a:xfrm>
            <a:off x="502920" y="1847088"/>
            <a:ext cx="2331720" cy="2743200"/>
          </a:xfrm>
          <a:prstGeom prst="roundRect">
            <a:avLst>
              <a:gd name="adj" fmla="val 3137"/>
            </a:avLst>
          </a:prstGeom>
          <a:solidFill>
            <a:srgbClr val="FFF0E8"/>
          </a:solidFill>
          <a:ln w="12700">
            <a:solidFill>
              <a:srgbClr val="F26A21"/>
            </a:solidFill>
            <a:prstDash val="solid"/>
          </a:ln>
        </p:spPr>
        <p:txBody>
          <a:bodyPr/>
          <a:lstStyle/>
          <a:p>
            <a:endParaRPr lang="es-CL"/>
          </a:p>
        </p:txBody>
      </p:sp>
      <p:sp>
        <p:nvSpPr>
          <p:cNvPr id="12" name="Text 10"/>
          <p:cNvSpPr/>
          <p:nvPr/>
        </p:nvSpPr>
        <p:spPr>
          <a:xfrm>
            <a:off x="1188720" y="2231136"/>
            <a:ext cx="960120" cy="594360"/>
          </a:xfrm>
          <a:prstGeom prst="rect">
            <a:avLst/>
          </a:prstGeom>
          <a:noFill/>
          <a:ln/>
        </p:spPr>
        <p:txBody>
          <a:bodyPr wrap="square" lIns="0" tIns="0" rIns="0" bIns="0" rtlCol="0" anchor="ctr"/>
          <a:lstStyle/>
          <a:p>
            <a:pPr marL="0" indent="0" algn="ctr">
              <a:buNone/>
            </a:pPr>
            <a:r>
              <a:rPr lang="en-US" sz="3200" dirty="0">
                <a:solidFill>
                  <a:srgbClr val="000000"/>
                </a:solidFill>
                <a:latin typeface="Segoe UI Emoji" pitchFamily="34" charset="0"/>
                <a:ea typeface="Segoe UI Emoji" pitchFamily="34" charset="-122"/>
                <a:cs typeface="Segoe UI Emoji" pitchFamily="34" charset="-120"/>
              </a:rPr>
              <a:t>📷</a:t>
            </a:r>
            <a:endParaRPr lang="en-US" sz="3200" dirty="0"/>
          </a:p>
        </p:txBody>
      </p:sp>
      <p:sp>
        <p:nvSpPr>
          <p:cNvPr id="13" name="Text 11"/>
          <p:cNvSpPr/>
          <p:nvPr/>
        </p:nvSpPr>
        <p:spPr>
          <a:xfrm>
            <a:off x="731520" y="3200400"/>
            <a:ext cx="1874520" cy="274320"/>
          </a:xfrm>
          <a:prstGeom prst="rect">
            <a:avLst/>
          </a:prstGeom>
          <a:noFill/>
          <a:ln/>
        </p:spPr>
        <p:txBody>
          <a:bodyPr wrap="square" lIns="0" tIns="0" rIns="0" bIns="0" rtlCol="0" anchor="ctr">
            <a:normAutofit/>
          </a:bodyPr>
          <a:lstStyle/>
          <a:p>
            <a:pPr marL="0" indent="0" algn="ctr">
              <a:buNone/>
            </a:pPr>
            <a:r>
              <a:rPr lang="en-US" sz="900" b="1" dirty="0">
                <a:solidFill>
                  <a:srgbClr val="0B1F3A"/>
                </a:solidFill>
                <a:latin typeface="Montserrat" pitchFamily="34" charset="0"/>
                <a:ea typeface="Montserrat" pitchFamily="34" charset="-122"/>
                <a:cs typeface="Montserrat" pitchFamily="34" charset="-120"/>
              </a:rPr>
              <a:t>Inserta aquí la foto del producto</a:t>
            </a:r>
            <a:endParaRPr lang="en-US" sz="900" dirty="0"/>
          </a:p>
        </p:txBody>
      </p:sp>
      <p:sp>
        <p:nvSpPr>
          <p:cNvPr id="14" name="Text 12"/>
          <p:cNvSpPr/>
          <p:nvPr/>
        </p:nvSpPr>
        <p:spPr>
          <a:xfrm>
            <a:off x="3154680" y="1874520"/>
            <a:ext cx="13716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Descripción</a:t>
            </a:r>
            <a:endParaRPr lang="en-US" sz="1150" dirty="0"/>
          </a:p>
        </p:txBody>
      </p:sp>
      <p:sp>
        <p:nvSpPr>
          <p:cNvPr id="15" name="Text 13"/>
          <p:cNvSpPr/>
          <p:nvPr/>
        </p:nvSpPr>
        <p:spPr>
          <a:xfrm>
            <a:off x="3154680" y="2148840"/>
            <a:ext cx="3291840" cy="1572768"/>
          </a:xfrm>
          <a:prstGeom prst="rect">
            <a:avLst/>
          </a:prstGeom>
          <a:noFill/>
          <a:ln/>
        </p:spPr>
        <p:txBody>
          <a:bodyPr wrap="square" lIns="0" tIns="0" rIns="0" bIns="0" rtlCol="0" anchor="ctr">
            <a:normAutofit/>
          </a:bodyPr>
          <a:lstStyle/>
          <a:p>
            <a:pPr marL="0" indent="0">
              <a:buNone/>
            </a:pPr>
            <a:r>
              <a:rPr lang="en-US" sz="885" dirty="0">
                <a:solidFill>
                  <a:srgbClr val="6B6560"/>
                </a:solidFill>
                <a:latin typeface="Poppins" pitchFamily="34" charset="0"/>
                <a:ea typeface="Poppins" pitchFamily="34" charset="-122"/>
                <a:cs typeface="Poppins" pitchFamily="34" charset="-120"/>
              </a:rPr>
              <a:t>Edita este párrafo con la descripción del producto. Aquí puedes explicar materiales, aplicaciones, ventajas, instalación o uso recomendado.</a:t>
            </a:r>
            <a:endParaRPr lang="en-US" sz="885" dirty="0"/>
          </a:p>
        </p:txBody>
      </p:sp>
      <p:sp>
        <p:nvSpPr>
          <p:cNvPr id="16" name="Text 14"/>
          <p:cNvSpPr/>
          <p:nvPr/>
        </p:nvSpPr>
        <p:spPr>
          <a:xfrm>
            <a:off x="3154680" y="3840480"/>
            <a:ext cx="1828800" cy="182880"/>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Características destacadas</a:t>
            </a:r>
            <a:endParaRPr lang="en-US" sz="1150" dirty="0"/>
          </a:p>
        </p:txBody>
      </p:sp>
      <p:sp>
        <p:nvSpPr>
          <p:cNvPr id="17" name="Text 15"/>
          <p:cNvSpPr/>
          <p:nvPr/>
        </p:nvSpPr>
        <p:spPr>
          <a:xfrm>
            <a:off x="3154680" y="4160520"/>
            <a:ext cx="91440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50" b="1" dirty="0">
                <a:solidFill>
                  <a:srgbClr val="F26A21"/>
                </a:solidFill>
                <a:latin typeface="Poppins" pitchFamily="34" charset="0"/>
                <a:ea typeface="Poppins" pitchFamily="34" charset="-122"/>
                <a:cs typeface="Poppins" pitchFamily="34" charset="-120"/>
              </a:rPr>
              <a:t>Característica 1</a:t>
            </a:r>
            <a:endParaRPr lang="en-US" sz="750" dirty="0"/>
          </a:p>
        </p:txBody>
      </p:sp>
      <p:sp>
        <p:nvSpPr>
          <p:cNvPr id="18" name="Text 16"/>
          <p:cNvSpPr/>
          <p:nvPr/>
        </p:nvSpPr>
        <p:spPr>
          <a:xfrm>
            <a:off x="4178808" y="4160520"/>
            <a:ext cx="91440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50" b="1" dirty="0">
                <a:solidFill>
                  <a:srgbClr val="0B1F3A"/>
                </a:solidFill>
                <a:latin typeface="Poppins" pitchFamily="34" charset="0"/>
                <a:ea typeface="Poppins" pitchFamily="34" charset="-122"/>
                <a:cs typeface="Poppins" pitchFamily="34" charset="-120"/>
              </a:rPr>
              <a:t>Característica 2</a:t>
            </a:r>
            <a:endParaRPr lang="en-US" sz="750" dirty="0"/>
          </a:p>
        </p:txBody>
      </p:sp>
      <p:sp>
        <p:nvSpPr>
          <p:cNvPr id="19" name="Text 17"/>
          <p:cNvSpPr/>
          <p:nvPr/>
        </p:nvSpPr>
        <p:spPr>
          <a:xfrm>
            <a:off x="5202936" y="4160520"/>
            <a:ext cx="91440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50" b="1" dirty="0">
                <a:solidFill>
                  <a:srgbClr val="F26A21"/>
                </a:solidFill>
                <a:latin typeface="Poppins" pitchFamily="34" charset="0"/>
                <a:ea typeface="Poppins" pitchFamily="34" charset="-122"/>
                <a:cs typeface="Poppins" pitchFamily="34" charset="-120"/>
              </a:rPr>
              <a:t>Característica 3</a:t>
            </a:r>
            <a:endParaRPr lang="en-US" sz="750" dirty="0"/>
          </a:p>
        </p:txBody>
      </p:sp>
      <p:sp>
        <p:nvSpPr>
          <p:cNvPr id="20" name="Text 18"/>
          <p:cNvSpPr/>
          <p:nvPr/>
        </p:nvSpPr>
        <p:spPr>
          <a:xfrm>
            <a:off x="3154680" y="4581144"/>
            <a:ext cx="914400" cy="256032"/>
          </a:xfrm>
          <a:prstGeom prst="rect">
            <a:avLst/>
          </a:prstGeom>
          <a:solidFill>
            <a:srgbClr val="FFF0E8"/>
          </a:solidFill>
          <a:ln>
            <a:solidFill>
              <a:srgbClr val="0B1F3A"/>
            </a:solidFill>
          </a:ln>
        </p:spPr>
        <p:txBody>
          <a:bodyPr wrap="square" lIns="381" tIns="381" rIns="381" bIns="381" rtlCol="0" anchor="ctr">
            <a:normAutofit/>
          </a:bodyPr>
          <a:lstStyle/>
          <a:p>
            <a:pPr marL="0" indent="0" algn="ctr">
              <a:buNone/>
            </a:pPr>
            <a:r>
              <a:rPr lang="en-US" sz="750" b="1" dirty="0">
                <a:solidFill>
                  <a:srgbClr val="0B1F3A"/>
                </a:solidFill>
                <a:latin typeface="Poppins" pitchFamily="34" charset="0"/>
                <a:ea typeface="Poppins" pitchFamily="34" charset="-122"/>
                <a:cs typeface="Poppins" pitchFamily="34" charset="-120"/>
              </a:rPr>
              <a:t>Característica 4</a:t>
            </a:r>
            <a:endParaRPr lang="en-US" sz="750" dirty="0"/>
          </a:p>
        </p:txBody>
      </p:sp>
      <p:sp>
        <p:nvSpPr>
          <p:cNvPr id="21" name="Text 19"/>
          <p:cNvSpPr/>
          <p:nvPr/>
        </p:nvSpPr>
        <p:spPr>
          <a:xfrm>
            <a:off x="4178808" y="4581144"/>
            <a:ext cx="914400" cy="256032"/>
          </a:xfrm>
          <a:prstGeom prst="rect">
            <a:avLst/>
          </a:prstGeom>
          <a:solidFill>
            <a:srgbClr val="FFFFFF"/>
          </a:solidFill>
          <a:ln>
            <a:solidFill>
              <a:srgbClr val="F26A21"/>
            </a:solidFill>
          </a:ln>
        </p:spPr>
        <p:txBody>
          <a:bodyPr wrap="square" lIns="381" tIns="381" rIns="381" bIns="381" rtlCol="0" anchor="ctr">
            <a:normAutofit/>
          </a:bodyPr>
          <a:lstStyle/>
          <a:p>
            <a:pPr marL="0" indent="0" algn="ctr">
              <a:buNone/>
            </a:pPr>
            <a:r>
              <a:rPr lang="en-US" sz="750" b="1" dirty="0">
                <a:solidFill>
                  <a:srgbClr val="F26A21"/>
                </a:solidFill>
                <a:latin typeface="Poppins" pitchFamily="34" charset="0"/>
                <a:ea typeface="Poppins" pitchFamily="34" charset="-122"/>
                <a:cs typeface="Poppins" pitchFamily="34" charset="-120"/>
              </a:rPr>
              <a:t>Característica 5</a:t>
            </a:r>
            <a:endParaRPr lang="en-US" sz="750" dirty="0"/>
          </a:p>
        </p:txBody>
      </p:sp>
      <p:sp>
        <p:nvSpPr>
          <p:cNvPr id="22" name="Text 20"/>
          <p:cNvSpPr/>
          <p:nvPr/>
        </p:nvSpPr>
        <p:spPr>
          <a:xfrm>
            <a:off x="502920" y="4983480"/>
            <a:ext cx="2286000" cy="201168"/>
          </a:xfrm>
          <a:prstGeom prst="rect">
            <a:avLst/>
          </a:prstGeom>
          <a:noFill/>
          <a:ln/>
        </p:spPr>
        <p:txBody>
          <a:bodyPr wrap="square" lIns="0" tIns="0" rIns="0" bIns="0" rtlCol="0" anchor="ctr"/>
          <a:lstStyle/>
          <a:p>
            <a:pPr marL="0" indent="0">
              <a:buNone/>
            </a:pPr>
            <a:r>
              <a:rPr lang="en-US" sz="1150" b="1" dirty="0">
                <a:solidFill>
                  <a:srgbClr val="1A1A1A"/>
                </a:solidFill>
                <a:latin typeface="Montserrat" pitchFamily="34" charset="0"/>
                <a:ea typeface="Montserrat" pitchFamily="34" charset="-122"/>
                <a:cs typeface="Montserrat" pitchFamily="34" charset="-120"/>
              </a:rPr>
              <a:t>Especificaciones técnicas</a:t>
            </a:r>
            <a:endParaRPr lang="en-US" sz="1150" dirty="0"/>
          </a:p>
        </p:txBody>
      </p:sp>
      <p:sp>
        <p:nvSpPr>
          <p:cNvPr id="23" name="Text 21"/>
          <p:cNvSpPr/>
          <p:nvPr/>
        </p:nvSpPr>
        <p:spPr>
          <a:xfrm>
            <a:off x="502920" y="5285232"/>
            <a:ext cx="1828800" cy="393192"/>
          </a:xfrm>
          <a:prstGeom prst="rect">
            <a:avLst/>
          </a:prstGeom>
          <a:solidFill>
            <a:srgbClr val="F0EDE8"/>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1</a:t>
            </a:r>
            <a:endParaRPr lang="en-US" sz="810" dirty="0"/>
          </a:p>
        </p:txBody>
      </p:sp>
      <p:sp>
        <p:nvSpPr>
          <p:cNvPr id="24" name="Text 22"/>
          <p:cNvSpPr/>
          <p:nvPr/>
        </p:nvSpPr>
        <p:spPr>
          <a:xfrm>
            <a:off x="2331720" y="5285232"/>
            <a:ext cx="448056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25" name="Text 23"/>
          <p:cNvSpPr/>
          <p:nvPr/>
        </p:nvSpPr>
        <p:spPr>
          <a:xfrm>
            <a:off x="502920" y="5678424"/>
            <a:ext cx="182880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2</a:t>
            </a:r>
            <a:endParaRPr lang="en-US" sz="810" dirty="0"/>
          </a:p>
        </p:txBody>
      </p:sp>
      <p:sp>
        <p:nvSpPr>
          <p:cNvPr id="26" name="Text 24"/>
          <p:cNvSpPr/>
          <p:nvPr/>
        </p:nvSpPr>
        <p:spPr>
          <a:xfrm>
            <a:off x="2331720" y="5678424"/>
            <a:ext cx="4480560" cy="393192"/>
          </a:xfrm>
          <a:prstGeom prst="rect">
            <a:avLst/>
          </a:prstGeom>
          <a:solidFill>
            <a:srgbClr val="FCFBF9"/>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27" name="Text 25"/>
          <p:cNvSpPr/>
          <p:nvPr/>
        </p:nvSpPr>
        <p:spPr>
          <a:xfrm>
            <a:off x="502920" y="6071616"/>
            <a:ext cx="1828800" cy="393192"/>
          </a:xfrm>
          <a:prstGeom prst="rect">
            <a:avLst/>
          </a:prstGeom>
          <a:solidFill>
            <a:srgbClr val="F0EDE8"/>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3</a:t>
            </a:r>
            <a:endParaRPr lang="en-US" sz="810" dirty="0"/>
          </a:p>
        </p:txBody>
      </p:sp>
      <p:sp>
        <p:nvSpPr>
          <p:cNvPr id="28" name="Text 26"/>
          <p:cNvSpPr/>
          <p:nvPr/>
        </p:nvSpPr>
        <p:spPr>
          <a:xfrm>
            <a:off x="2331720" y="6071616"/>
            <a:ext cx="448056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29" name="Text 27"/>
          <p:cNvSpPr/>
          <p:nvPr/>
        </p:nvSpPr>
        <p:spPr>
          <a:xfrm>
            <a:off x="502920" y="6464808"/>
            <a:ext cx="182880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4</a:t>
            </a:r>
            <a:endParaRPr lang="en-US" sz="810" dirty="0"/>
          </a:p>
        </p:txBody>
      </p:sp>
      <p:sp>
        <p:nvSpPr>
          <p:cNvPr id="30" name="Text 28"/>
          <p:cNvSpPr/>
          <p:nvPr/>
        </p:nvSpPr>
        <p:spPr>
          <a:xfrm>
            <a:off x="2331720" y="6464808"/>
            <a:ext cx="4480560" cy="393192"/>
          </a:xfrm>
          <a:prstGeom prst="rect">
            <a:avLst/>
          </a:prstGeom>
          <a:solidFill>
            <a:srgbClr val="FCFBF9"/>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31" name="Text 29"/>
          <p:cNvSpPr/>
          <p:nvPr/>
        </p:nvSpPr>
        <p:spPr>
          <a:xfrm>
            <a:off x="502920" y="6858000"/>
            <a:ext cx="1828800" cy="393192"/>
          </a:xfrm>
          <a:prstGeom prst="rect">
            <a:avLst/>
          </a:prstGeom>
          <a:solidFill>
            <a:srgbClr val="F0EDE8"/>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5</a:t>
            </a:r>
            <a:endParaRPr lang="en-US" sz="810" dirty="0"/>
          </a:p>
        </p:txBody>
      </p:sp>
      <p:sp>
        <p:nvSpPr>
          <p:cNvPr id="32" name="Text 30"/>
          <p:cNvSpPr/>
          <p:nvPr/>
        </p:nvSpPr>
        <p:spPr>
          <a:xfrm>
            <a:off x="2331720" y="6858000"/>
            <a:ext cx="448056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33" name="Text 31"/>
          <p:cNvSpPr/>
          <p:nvPr/>
        </p:nvSpPr>
        <p:spPr>
          <a:xfrm>
            <a:off x="502920" y="7251192"/>
            <a:ext cx="182880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6</a:t>
            </a:r>
            <a:endParaRPr lang="en-US" sz="810" dirty="0"/>
          </a:p>
        </p:txBody>
      </p:sp>
      <p:sp>
        <p:nvSpPr>
          <p:cNvPr id="34" name="Text 32"/>
          <p:cNvSpPr/>
          <p:nvPr/>
        </p:nvSpPr>
        <p:spPr>
          <a:xfrm>
            <a:off x="2331720" y="7251192"/>
            <a:ext cx="4480560" cy="393192"/>
          </a:xfrm>
          <a:prstGeom prst="rect">
            <a:avLst/>
          </a:prstGeom>
          <a:solidFill>
            <a:srgbClr val="FCFBF9"/>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35" name="Text 33"/>
          <p:cNvSpPr/>
          <p:nvPr/>
        </p:nvSpPr>
        <p:spPr>
          <a:xfrm>
            <a:off x="502920" y="7644384"/>
            <a:ext cx="1828800" cy="393192"/>
          </a:xfrm>
          <a:prstGeom prst="rect">
            <a:avLst/>
          </a:prstGeom>
          <a:solidFill>
            <a:srgbClr val="F0EDE8"/>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7</a:t>
            </a:r>
            <a:endParaRPr lang="en-US" sz="810" dirty="0"/>
          </a:p>
        </p:txBody>
      </p:sp>
      <p:sp>
        <p:nvSpPr>
          <p:cNvPr id="36" name="Text 34"/>
          <p:cNvSpPr/>
          <p:nvPr/>
        </p:nvSpPr>
        <p:spPr>
          <a:xfrm>
            <a:off x="2331720" y="7644384"/>
            <a:ext cx="448056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37" name="Text 35"/>
          <p:cNvSpPr/>
          <p:nvPr/>
        </p:nvSpPr>
        <p:spPr>
          <a:xfrm>
            <a:off x="502920" y="8037576"/>
            <a:ext cx="1828800" cy="393192"/>
          </a:xfrm>
          <a:prstGeom prst="rect">
            <a:avLst/>
          </a:prstGeom>
          <a:solidFill>
            <a:srgbClr val="FFFFFF"/>
          </a:solidFill>
          <a:ln>
            <a:solidFill>
              <a:srgbClr val="E5E0D8"/>
            </a:solidFill>
          </a:ln>
        </p:spPr>
        <p:txBody>
          <a:bodyPr wrap="square" lIns="1016" tIns="1016" rIns="1016" bIns="1016" rtlCol="0" anchor="ctr"/>
          <a:lstStyle/>
          <a:p>
            <a:pPr marL="0" indent="0">
              <a:buNone/>
            </a:pPr>
            <a:r>
              <a:rPr lang="en-US" sz="810" b="1" dirty="0">
                <a:solidFill>
                  <a:srgbClr val="1A1A1A"/>
                </a:solidFill>
                <a:latin typeface="Poppins" pitchFamily="34" charset="0"/>
                <a:ea typeface="Poppins" pitchFamily="34" charset="-122"/>
                <a:cs typeface="Poppins" pitchFamily="34" charset="-120"/>
              </a:rPr>
              <a:t>Campo 8</a:t>
            </a:r>
            <a:endParaRPr lang="en-US" sz="810" dirty="0"/>
          </a:p>
        </p:txBody>
      </p:sp>
      <p:sp>
        <p:nvSpPr>
          <p:cNvPr id="38" name="Text 36"/>
          <p:cNvSpPr/>
          <p:nvPr/>
        </p:nvSpPr>
        <p:spPr>
          <a:xfrm>
            <a:off x="2331720" y="8037576"/>
            <a:ext cx="4480560" cy="393192"/>
          </a:xfrm>
          <a:prstGeom prst="rect">
            <a:avLst/>
          </a:prstGeom>
          <a:solidFill>
            <a:srgbClr val="FCFBF9"/>
          </a:solidFill>
          <a:ln>
            <a:solidFill>
              <a:srgbClr val="E5E0D8"/>
            </a:solidFill>
          </a:ln>
        </p:spPr>
        <p:txBody>
          <a:bodyPr wrap="square" lIns="1016" tIns="1016" rIns="1016" bIns="1016" rtlCol="0" anchor="ctr"/>
          <a:lstStyle/>
          <a:p>
            <a:pPr marL="0" indent="0">
              <a:buNone/>
            </a:pPr>
            <a:r>
              <a:rPr lang="en-US" sz="810" dirty="0">
                <a:solidFill>
                  <a:srgbClr val="6B6560"/>
                </a:solidFill>
                <a:latin typeface="Poppins" pitchFamily="34" charset="0"/>
                <a:ea typeface="Poppins" pitchFamily="34" charset="-122"/>
                <a:cs typeface="Poppins" pitchFamily="34" charset="-120"/>
              </a:rPr>
              <a:t>Valor editable</a:t>
            </a:r>
            <a:endParaRPr lang="en-US" sz="810" dirty="0"/>
          </a:p>
        </p:txBody>
      </p:sp>
      <p:sp>
        <p:nvSpPr>
          <p:cNvPr id="39" name="Text 37"/>
          <p:cNvSpPr/>
          <p:nvPr/>
        </p:nvSpPr>
        <p:spPr>
          <a:xfrm>
            <a:off x="502920" y="8622792"/>
            <a:ext cx="6556248" cy="640080"/>
          </a:xfrm>
          <a:prstGeom prst="rect">
            <a:avLst/>
          </a:prstGeom>
          <a:solidFill>
            <a:srgbClr val="FFF0E8"/>
          </a:solidFill>
          <a:ln>
            <a:solidFill>
              <a:srgbClr val="F26A21"/>
            </a:solidFill>
          </a:ln>
        </p:spPr>
        <p:txBody>
          <a:bodyPr wrap="square" lIns="1524" tIns="1524" rIns="1524" bIns="1524" rtlCol="0" anchor="ctr"/>
          <a:lstStyle/>
          <a:p>
            <a:pPr marL="0" indent="0">
              <a:buNone/>
            </a:pPr>
            <a:r>
              <a:rPr lang="en-US" sz="810" i="1" dirty="0">
                <a:solidFill>
                  <a:srgbClr val="6B6560"/>
                </a:solidFill>
                <a:latin typeface="Poppins" pitchFamily="34" charset="0"/>
                <a:ea typeface="Poppins" pitchFamily="34" charset="-122"/>
                <a:cs typeface="Poppins" pitchFamily="34" charset="-120"/>
              </a:rPr>
              <a:t>Nota editable: agrega aquí condiciones especiales, instalación, garantía o recomendaciones.</a:t>
            </a:r>
            <a:endParaRPr lang="en-US" sz="810" dirty="0"/>
          </a:p>
        </p:txBody>
      </p:sp>
      <p:sp>
        <p:nvSpPr>
          <p:cNvPr id="40" name="Text 38"/>
          <p:cNvSpPr/>
          <p:nvPr/>
        </p:nvSpPr>
        <p:spPr>
          <a:xfrm>
            <a:off x="502920" y="10122408"/>
            <a:ext cx="4480560" cy="164592"/>
          </a:xfrm>
          <a:prstGeom prst="rect">
            <a:avLst/>
          </a:prstGeom>
          <a:noFill/>
          <a:ln/>
        </p:spPr>
        <p:txBody>
          <a:bodyPr wrap="square" lIns="0" tIns="0" rIns="0" bIns="0" rtlCol="0" anchor="ctr"/>
          <a:lstStyle/>
          <a:p>
            <a:pPr marL="0" indent="0">
              <a:buNone/>
            </a:pPr>
            <a:r>
              <a:rPr lang="en-US" sz="750" dirty="0">
                <a:solidFill>
                  <a:srgbClr val="6B6560"/>
                </a:solidFill>
                <a:latin typeface="Poppins" pitchFamily="34" charset="0"/>
                <a:ea typeface="Poppins" pitchFamily="34" charset="-122"/>
                <a:cs typeface="Poppins" pitchFamily="34" charset="-120"/>
              </a:rPr>
              <a:t>+56 9 6432 9683 | ventas@athlis.cl | www.athlis.cl</a:t>
            </a:r>
            <a:endParaRPr lang="en-US" sz="750" dirty="0"/>
          </a:p>
        </p:txBody>
      </p:sp>
      <p:sp>
        <p:nvSpPr>
          <p:cNvPr id="41" name="Text 39"/>
          <p:cNvSpPr/>
          <p:nvPr/>
        </p:nvSpPr>
        <p:spPr>
          <a:xfrm>
            <a:off x="5669280" y="10122408"/>
            <a:ext cx="1371600" cy="164592"/>
          </a:xfrm>
          <a:prstGeom prst="rect">
            <a:avLst/>
          </a:prstGeom>
          <a:noFill/>
          <a:ln/>
        </p:spPr>
        <p:txBody>
          <a:bodyPr wrap="square" lIns="0" tIns="0" rIns="0" bIns="0" rtlCol="0" anchor="ctr"/>
          <a:lstStyle/>
          <a:p>
            <a:pPr marL="0" indent="0" algn="r">
              <a:buNone/>
            </a:pPr>
            <a:r>
              <a:rPr lang="en-US" sz="750" dirty="0">
                <a:solidFill>
                  <a:srgbClr val="6B6560"/>
                </a:solidFill>
                <a:latin typeface="Poppins" pitchFamily="34" charset="0"/>
                <a:ea typeface="Poppins" pitchFamily="34" charset="-122"/>
                <a:cs typeface="Poppins" pitchFamily="34" charset="-120"/>
              </a:rPr>
              <a:t>Plantilla producto</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3486</Words>
  <Application>Microsoft Macintosh PowerPoint</Application>
  <PresentationFormat>Personalizado</PresentationFormat>
  <Paragraphs>552</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Montserrat</vt:lpstr>
      <vt:lpstr>Poppins</vt:lpstr>
      <vt:lpstr>Segoe UI Emoji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Catalogo Escolar ATHLIS Store 2025 - Editable</dc:title>
  <dc:subject>Catalogo editable ATHLIS STORE</dc:subject>
  <dc:creator>OpenAI</dc:creator>
  <cp:lastModifiedBy>MICHAEL MOSCOSO RAMIREZ</cp:lastModifiedBy>
  <cp:revision>5</cp:revision>
  <dcterms:created xsi:type="dcterms:W3CDTF">2026-04-03T22:40:37Z</dcterms:created>
  <dcterms:modified xsi:type="dcterms:W3CDTF">2026-04-03T23:55:18Z</dcterms:modified>
</cp:coreProperties>
</file>